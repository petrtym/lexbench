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0" r:id="rId4"/>
    <p:sldId id="258" r:id="rId5"/>
    <p:sldId id="259" r:id="rId6"/>
    <p:sldId id="262" r:id="rId7"/>
    <p:sldId id="263" r:id="rId8"/>
    <p:sldId id="267" r:id="rId9"/>
    <p:sldId id="264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2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413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30690-E476-9DFE-CAAA-1CA87FB94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1B593C-2AE9-2901-33E3-2E44F1C2C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59A06C-B7BA-E65B-0CF9-8FBB5E33F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E7AAF-554C-DEF5-01A9-A52454819F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6043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548640"/>
            <a:ext cx="3291840" cy="347472"/>
          </a:xfrm>
          <a:prstGeom prst="roundRect">
            <a:avLst>
              <a:gd name="adj" fmla="val 15789"/>
            </a:avLst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5486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MULTIMEDIA 2026 · DEMO TRACK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10515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LEX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D1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Multimodal Neuro-Symbolic System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D1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Automated Construction Compliance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77240" y="3520440"/>
            <a:ext cx="2468880" cy="1234440"/>
          </a:xfrm>
          <a:prstGeom prst="roundRect">
            <a:avLst>
              <a:gd name="adj" fmla="val 7407"/>
            </a:avLst>
          </a:prstGeom>
          <a:solidFill>
            <a:srgbClr val="11295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566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2,877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77240" y="409651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0" y="3520440"/>
            <a:ext cx="2468880" cy="1234440"/>
          </a:xfrm>
          <a:prstGeom prst="roundRect">
            <a:avLst>
              <a:gd name="adj" fmla="val 7407"/>
            </a:avLst>
          </a:prstGeom>
          <a:solidFill>
            <a:srgbClr val="11295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66160" y="3566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1.1M+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66160" y="409651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55080" y="3520440"/>
            <a:ext cx="2468880" cy="1234440"/>
          </a:xfrm>
          <a:prstGeom prst="roundRect">
            <a:avLst>
              <a:gd name="adj" fmla="val 7407"/>
            </a:avLst>
          </a:prstGeom>
          <a:solidFill>
            <a:srgbClr val="11295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3566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89.7%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55080" y="409651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 Timofeev · </a:t>
            </a:r>
            <a:r>
              <a:rPr lang="en-US" sz="90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Ilya Makarov · </a:t>
            </a:r>
            <a:r>
              <a:rPr lang="en-US" sz="9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ITMO University / AI Talent Hub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 · ACM MM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 compliance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broken at scale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spend 50% of their time manually cross-referencing thousands of regulatory clauses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found on construction sites cost 10–50× more to fix than at design stage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LLM-based tools hallucinate citations — a critical failure mode for regulatory work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combines norm retrieval with multimodal document auditing over a shared knowledge graph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9601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0332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$177B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983480" y="15270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annually to design errors worldwide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23317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24048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7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983480" y="28986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engineer time on manual norm lookup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37033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37764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&gt;60 days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983480" y="42702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project delay from documentation errors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&amp; 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 · ACM MM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1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LEX different from existing retrieval and compliance systems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90472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4447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Grounding-or-abstain contract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80136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plain RAG, the system either retrieves a real clause with full provenance or explicitly abstains. Fabricated citations are architecturally impossible. 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via the waterproofing turn-up example: 150mm vs. 200mm threshold in СП 29.13330 §7.2.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32588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490472"/>
            <a:ext cx="201168" cy="20116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9784" y="14447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Neuro-symbolic fusion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80136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retrieval (Qdrant semantic search) feeds a deterministic symbolic graph traversal (Neo4j). The symbolic layer enforces regulatory structure; the neural layer handles semantic variation in natural language queries.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10896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27355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32278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Project Documentation auditing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58444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system to combine PDF/drawing ingestion (PaddleOCR-VL), LLM extraction, and norm-linked verification in a single pipeline. Handles cross-sections, floor plans, tables, and textual specs within the same regulatory graph.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310896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27355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9784" y="32278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regulatory graph across modes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58444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Q&amp;A and auditing modes operate over the same underlying knowledge graph — ensuring consistency between interactive norm lookup and batch document verification.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 · ACM MM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architecture figure from paper ]</a:t>
            </a:r>
            <a:endParaRPr lang="en-US" sz="14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8571FE3-758E-5D8C-8DF5-C898FDE2D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8177542" cy="4272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KNOWLEDGE GRAPH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 · ACM MM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1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Russian construction normative space + Dubai Building Code — multi-lingual corpus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0B1D3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2,877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18470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br>
              <a:rPr lang="en-US" sz="950" dirty="0">
                <a:solidFill>
                  <a:srgbClr val="D1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50" dirty="0">
                <a:solidFill>
                  <a:srgbClr val="D1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Russian Building Standards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50592" y="132588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0B1D3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414K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50592" y="18470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nodes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26864" y="132588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0B1D3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26864" y="18470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edges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03136" y="132588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0B1D3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03136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250K+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03136" y="18470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indexed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2560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taxonomy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055607"/>
              </p:ext>
            </p:extLst>
          </p:nvPr>
        </p:nvGraphicFramePr>
        <p:xfrm>
          <a:off x="365760" y="2880360"/>
          <a:ext cx="3931921" cy="2011680"/>
        </p:xfrm>
        <a:graphic>
          <a:graphicData uri="http://schemas.openxmlformats.org/drawingml/2006/table">
            <a:tbl>
              <a:tblPr/>
              <a:tblGrid>
                <a:gridCol w="1112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4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4510">
                  <a:extLst>
                    <a:ext uri="{9D8B030D-6E8A-4147-A177-3AD203B41FA5}">
                      <a16:colId xmlns:a16="http://schemas.microsoft.com/office/drawing/2014/main" val="2007797098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r>
                        <a:rPr lang="ru-RU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RF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r>
                        <a:rPr lang="ru-RU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Dubai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 clauses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307,020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latin typeface="Calibri" charset="0"/>
                          <a:ea typeface="Calibri" charset="0"/>
                          <a:cs typeface="Calibri" charset="0"/>
                        </a:rPr>
                        <a:t>2,884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38,239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latin typeface="Calibri" charset="0"/>
                          <a:ea typeface="Calibri" charset="0"/>
                          <a:cs typeface="Calibri" charset="0"/>
                        </a:rPr>
                        <a:t>371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 / figures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33,667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latin typeface="Calibri" charset="0"/>
                          <a:ea typeface="Calibri" charset="0"/>
                          <a:cs typeface="Calibri" charset="0"/>
                        </a:rPr>
                        <a:t>693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13,290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latin typeface="Calibri" charset="0"/>
                          <a:ea typeface="Calibri" charset="0"/>
                          <a:cs typeface="Calibri" charset="0"/>
                        </a:rPr>
                        <a:t>189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Terms / concepts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19,233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latin typeface="Calibri" charset="0"/>
                          <a:ea typeface="Calibri" charset="0"/>
                          <a:cs typeface="Calibri" charset="0"/>
                        </a:rPr>
                        <a:t>-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4663440" y="2514600"/>
            <a:ext cx="4206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800600" y="2606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Two-graph architecture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800600" y="2999232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0" y="294436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norm graph (Neo4j) and Project Graph (</a:t>
            </a:r>
            <a:r>
              <a:rPr lang="en-US" sz="1000" b="1" dirty="0" err="1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ArangoDB</a:t>
            </a:r>
            <a:r>
              <a:rPr lang="en-US" sz="1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029200" y="316382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Hierarchy, cross-refs, versioning — precise retrieval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800600" y="3474720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0" y="341985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 (Qdrant)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029200" y="363931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 across 307K clauses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663440" y="4069080"/>
            <a:ext cx="4206240" cy="777240"/>
          </a:xfrm>
          <a:prstGeom prst="roundRect">
            <a:avLst>
              <a:gd name="adj" fmla="val 11765"/>
            </a:avLst>
          </a:prstGeom>
          <a:solidFill>
            <a:srgbClr val="0B1D3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00600" y="4114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800600" y="43708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norms — 2,877 docs (СП · ГОСТ · СНиП)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800600" y="45537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Building Code — 1 highly-connected document (UAE)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EXAMPLE: GROUNDING VS. FABRICATION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 · ACM MM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1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Waterproofing turn-up verification — a concrete failure case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2788920" cy="338328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417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the minimum waterproofing turn-up height at wall junctions</a:t>
            </a:r>
            <a:r>
              <a:rPr lang="uk-UA" sz="1100" i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?</a:t>
            </a:r>
            <a:r>
              <a:rPr lang="en-US" sz="1100" i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0632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from project documentation: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Specified value: 150mm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2240280" cy="685800"/>
          </a:xfrm>
          <a:prstGeom prst="roundRect">
            <a:avLst>
              <a:gd name="adj" fmla="val 1066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73075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150mm &lt; 200mm required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Non-compliant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1325880"/>
            <a:ext cx="2743200" cy="3383280"/>
          </a:xfrm>
          <a:prstGeom prst="roundRect">
            <a:avLst>
              <a:gd name="adj" fmla="val 4000"/>
            </a:avLst>
          </a:prstGeom>
          <a:solidFill>
            <a:srgbClr val="112952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29000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 Response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17647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 29.13330.2020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§7.2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2322576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ru-UA" sz="800" dirty="0">
                <a:solidFill>
                  <a:schemeClr val="bg1"/>
                </a:solidFill>
              </a:rPr>
              <a:t>For </a:t>
            </a:r>
            <a:r>
              <a:rPr lang="ru-UA" sz="800" b="1" dirty="0" err="1">
                <a:solidFill>
                  <a:schemeClr val="bg1"/>
                </a:solidFill>
              </a:rPr>
              <a:t>wet</a:t>
            </a:r>
            <a:r>
              <a:rPr lang="ru-UA" sz="800" b="1" dirty="0">
                <a:solidFill>
                  <a:schemeClr val="bg1"/>
                </a:solidFill>
              </a:rPr>
              <a:t> </a:t>
            </a:r>
            <a:r>
              <a:rPr lang="ru-UA" sz="800" b="1" dirty="0" err="1">
                <a:solidFill>
                  <a:schemeClr val="bg1"/>
                </a:solidFill>
              </a:rPr>
              <a:t>rooms</a:t>
            </a:r>
            <a:r>
              <a:rPr lang="ru-UA" sz="800" dirty="0">
                <a:solidFill>
                  <a:schemeClr val="bg1"/>
                </a:solidFill>
              </a:rPr>
              <a:t> (</a:t>
            </a:r>
            <a:r>
              <a:rPr lang="ru-UA" sz="800" dirty="0" err="1">
                <a:solidFill>
                  <a:schemeClr val="bg1"/>
                </a:solidFill>
              </a:rPr>
              <a:t>areas</a:t>
            </a:r>
            <a:r>
              <a:rPr lang="ru-UA" sz="800" dirty="0">
                <a:solidFill>
                  <a:schemeClr val="bg1"/>
                </a:solidFill>
              </a:rPr>
              <a:t> </a:t>
            </a:r>
            <a:r>
              <a:rPr lang="ru-UA" sz="800" dirty="0" err="1">
                <a:solidFill>
                  <a:schemeClr val="bg1"/>
                </a:solidFill>
              </a:rPr>
              <a:t>with</a:t>
            </a:r>
            <a:r>
              <a:rPr lang="ru-UA" sz="800" dirty="0">
                <a:solidFill>
                  <a:schemeClr val="bg1"/>
                </a:solidFill>
              </a:rPr>
              <a:t> </a:t>
            </a:r>
            <a:r>
              <a:rPr lang="ru-UA" sz="800" dirty="0" err="1">
                <a:solidFill>
                  <a:schemeClr val="bg1"/>
                </a:solidFill>
              </a:rPr>
              <a:t>medium</a:t>
            </a:r>
            <a:r>
              <a:rPr lang="ru-UA" sz="800" dirty="0">
                <a:solidFill>
                  <a:schemeClr val="bg1"/>
                </a:solidFill>
              </a:rPr>
              <a:t> </a:t>
            </a:r>
            <a:r>
              <a:rPr lang="ru-UA" sz="800" dirty="0" err="1">
                <a:solidFill>
                  <a:schemeClr val="bg1"/>
                </a:solidFill>
              </a:rPr>
              <a:t>to</a:t>
            </a:r>
            <a:r>
              <a:rPr lang="ru-UA" sz="800" dirty="0">
                <a:solidFill>
                  <a:schemeClr val="bg1"/>
                </a:solidFill>
              </a:rPr>
              <a:t> </a:t>
            </a:r>
            <a:r>
              <a:rPr lang="ru-UA" sz="800" dirty="0" err="1">
                <a:solidFill>
                  <a:schemeClr val="bg1"/>
                </a:solidFill>
              </a:rPr>
              <a:t>high</a:t>
            </a:r>
            <a:r>
              <a:rPr lang="ru-UA" sz="800" dirty="0">
                <a:solidFill>
                  <a:schemeClr val="bg1"/>
                </a:solidFill>
              </a:rPr>
              <a:t> </a:t>
            </a:r>
            <a:r>
              <a:rPr lang="ru-UA" sz="800" dirty="0" err="1">
                <a:solidFill>
                  <a:schemeClr val="bg1"/>
                </a:solidFill>
              </a:rPr>
              <a:t>water</a:t>
            </a:r>
            <a:r>
              <a:rPr lang="ru-UA" sz="800" dirty="0">
                <a:solidFill>
                  <a:schemeClr val="bg1"/>
                </a:solidFill>
              </a:rPr>
              <a:t> </a:t>
            </a:r>
            <a:r>
              <a:rPr lang="ru-UA" sz="800" dirty="0" err="1">
                <a:solidFill>
                  <a:schemeClr val="bg1"/>
                </a:solidFill>
              </a:rPr>
              <a:t>exposure</a:t>
            </a:r>
            <a:r>
              <a:rPr lang="ru-UA" sz="800" dirty="0">
                <a:solidFill>
                  <a:schemeClr val="bg1"/>
                </a:solidFill>
              </a:rPr>
              <a:t>), </a:t>
            </a:r>
            <a:r>
              <a:rPr lang="ru-UA" sz="800" b="1" dirty="0">
                <a:solidFill>
                  <a:schemeClr val="bg1"/>
                </a:solidFill>
              </a:rPr>
              <a:t>SP 29.13330.2011</a:t>
            </a:r>
            <a:r>
              <a:rPr lang="ru-UA" sz="800" dirty="0">
                <a:solidFill>
                  <a:schemeClr val="bg1"/>
                </a:solidFill>
              </a:rPr>
              <a:t> </a:t>
            </a:r>
            <a:r>
              <a:rPr lang="ru-UA" sz="800" dirty="0" err="1">
                <a:solidFill>
                  <a:schemeClr val="bg1"/>
                </a:solidFill>
              </a:rPr>
              <a:t>requires</a:t>
            </a:r>
            <a:r>
              <a:rPr lang="ru-UA" sz="800" dirty="0">
                <a:solidFill>
                  <a:schemeClr val="bg1"/>
                </a:solidFill>
              </a:rPr>
              <a:t> </a:t>
            </a:r>
            <a:r>
              <a:rPr lang="ru-UA" sz="800" dirty="0" err="1">
                <a:solidFill>
                  <a:schemeClr val="bg1"/>
                </a:solidFill>
              </a:rPr>
              <a:t>the</a:t>
            </a:r>
            <a:r>
              <a:rPr lang="ru-UA" sz="800" dirty="0">
                <a:solidFill>
                  <a:schemeClr val="bg1"/>
                </a:solidFill>
              </a:rPr>
              <a:t> </a:t>
            </a:r>
            <a:r>
              <a:rPr lang="ru-UA" sz="800" dirty="0" err="1">
                <a:solidFill>
                  <a:schemeClr val="bg1"/>
                </a:solidFill>
              </a:rPr>
              <a:t>installation</a:t>
            </a:r>
            <a:r>
              <a:rPr lang="ru-UA" sz="800" dirty="0">
                <a:solidFill>
                  <a:schemeClr val="bg1"/>
                </a:solidFill>
              </a:rPr>
              <a:t> </a:t>
            </a:r>
            <a:r>
              <a:rPr lang="ru-UA" sz="800" dirty="0" err="1">
                <a:solidFill>
                  <a:schemeClr val="bg1"/>
                </a:solidFill>
              </a:rPr>
              <a:t>of</a:t>
            </a:r>
            <a:r>
              <a:rPr lang="ru-UA" sz="800" dirty="0">
                <a:solidFill>
                  <a:schemeClr val="bg1"/>
                </a:solidFill>
              </a:rPr>
              <a:t> a </a:t>
            </a:r>
            <a:r>
              <a:rPr lang="ru-UA" sz="800" b="1" dirty="0" err="1">
                <a:solidFill>
                  <a:schemeClr val="bg1"/>
                </a:solidFill>
              </a:rPr>
              <a:t>continuous</a:t>
            </a:r>
            <a:r>
              <a:rPr lang="ru-UA" sz="800" b="1" dirty="0">
                <a:solidFill>
                  <a:schemeClr val="bg1"/>
                </a:solidFill>
              </a:rPr>
              <a:t> </a:t>
            </a:r>
            <a:r>
              <a:rPr lang="ru-UA" sz="800" b="1" dirty="0" err="1">
                <a:solidFill>
                  <a:schemeClr val="bg1"/>
                </a:solidFill>
              </a:rPr>
              <a:t>waterproofing</a:t>
            </a:r>
            <a:r>
              <a:rPr lang="ru-UA" sz="800" b="1" dirty="0">
                <a:solidFill>
                  <a:schemeClr val="bg1"/>
                </a:solidFill>
              </a:rPr>
              <a:t> </a:t>
            </a:r>
            <a:r>
              <a:rPr lang="ru-UA" sz="800" b="1" dirty="0" err="1">
                <a:solidFill>
                  <a:schemeClr val="bg1"/>
                </a:solidFill>
              </a:rPr>
              <a:t>membrane</a:t>
            </a:r>
            <a:r>
              <a:rPr lang="ru-UA" sz="800" dirty="0">
                <a:solidFill>
                  <a:schemeClr val="bg1"/>
                </a:solidFill>
              </a:rPr>
              <a:t> (a </a:t>
            </a:r>
            <a:r>
              <a:rPr lang="ru-UA" sz="800" dirty="0" err="1">
                <a:solidFill>
                  <a:schemeClr val="bg1"/>
                </a:solidFill>
              </a:rPr>
              <a:t>minimum</a:t>
            </a:r>
            <a:r>
              <a:rPr lang="ru-UA" sz="800" dirty="0">
                <a:solidFill>
                  <a:schemeClr val="bg1"/>
                </a:solidFill>
              </a:rPr>
              <a:t> </a:t>
            </a:r>
            <a:r>
              <a:rPr lang="ru-UA" sz="800" dirty="0" err="1">
                <a:solidFill>
                  <a:schemeClr val="bg1"/>
                </a:solidFill>
              </a:rPr>
              <a:t>of</a:t>
            </a:r>
            <a:r>
              <a:rPr lang="ru-UA" sz="800" dirty="0">
                <a:solidFill>
                  <a:schemeClr val="bg1"/>
                </a:solidFill>
              </a:rPr>
              <a:t> </a:t>
            </a:r>
            <a:r>
              <a:rPr lang="ru-UA" sz="800" dirty="0" err="1">
                <a:solidFill>
                  <a:schemeClr val="bg1"/>
                </a:solidFill>
              </a:rPr>
              <a:t>two</a:t>
            </a:r>
            <a:r>
              <a:rPr lang="ru-UA" sz="800" dirty="0">
                <a:solidFill>
                  <a:schemeClr val="bg1"/>
                </a:solidFill>
              </a:rPr>
              <a:t> </a:t>
            </a:r>
            <a:r>
              <a:rPr lang="ru-UA" sz="800" dirty="0" err="1">
                <a:solidFill>
                  <a:schemeClr val="bg1"/>
                </a:solidFill>
              </a:rPr>
              <a:t>layers</a:t>
            </a:r>
            <a:r>
              <a:rPr lang="ru-UA" sz="800" dirty="0">
                <a:solidFill>
                  <a:schemeClr val="bg1"/>
                </a:solidFill>
              </a:rPr>
              <a:t> </a:t>
            </a:r>
            <a:r>
              <a:rPr lang="ru-UA" sz="800" dirty="0" err="1">
                <a:solidFill>
                  <a:schemeClr val="bg1"/>
                </a:solidFill>
              </a:rPr>
              <a:t>for</a:t>
            </a:r>
            <a:r>
              <a:rPr lang="ru-UA" sz="800" dirty="0">
                <a:solidFill>
                  <a:schemeClr val="bg1"/>
                </a:solidFill>
              </a:rPr>
              <a:t> </a:t>
            </a:r>
            <a:r>
              <a:rPr lang="ru-UA" sz="800" dirty="0" err="1">
                <a:solidFill>
                  <a:schemeClr val="bg1"/>
                </a:solidFill>
              </a:rPr>
              <a:t>bitumen-based</a:t>
            </a:r>
            <a:r>
              <a:rPr lang="ru-UA" sz="800" dirty="0">
                <a:solidFill>
                  <a:schemeClr val="bg1"/>
                </a:solidFill>
              </a:rPr>
              <a:t> </a:t>
            </a:r>
            <a:r>
              <a:rPr lang="ru-UA" sz="800" dirty="0" err="1">
                <a:solidFill>
                  <a:schemeClr val="bg1"/>
                </a:solidFill>
              </a:rPr>
              <a:t>or</a:t>
            </a:r>
            <a:r>
              <a:rPr lang="ru-UA" sz="800" dirty="0">
                <a:solidFill>
                  <a:schemeClr val="bg1"/>
                </a:solidFill>
              </a:rPr>
              <a:t> </a:t>
            </a:r>
            <a:r>
              <a:rPr lang="ru-UA" sz="800" dirty="0" err="1">
                <a:solidFill>
                  <a:schemeClr val="bg1"/>
                </a:solidFill>
              </a:rPr>
              <a:t>cementitious</a:t>
            </a:r>
            <a:r>
              <a:rPr lang="ru-UA" sz="800" dirty="0">
                <a:solidFill>
                  <a:schemeClr val="bg1"/>
                </a:solidFill>
              </a:rPr>
              <a:t> </a:t>
            </a:r>
            <a:r>
              <a:rPr lang="ru-UA" sz="800" dirty="0" err="1">
                <a:solidFill>
                  <a:schemeClr val="bg1"/>
                </a:solidFill>
              </a:rPr>
              <a:t>waterproofing</a:t>
            </a:r>
            <a:r>
              <a:rPr lang="ru-UA" sz="800" dirty="0">
                <a:solidFill>
                  <a:schemeClr val="bg1"/>
                </a:solidFill>
              </a:rPr>
              <a:t> </a:t>
            </a:r>
            <a:r>
              <a:rPr lang="ru-UA" sz="800" dirty="0" err="1">
                <a:solidFill>
                  <a:schemeClr val="bg1"/>
                </a:solidFill>
              </a:rPr>
              <a:t>systems</a:t>
            </a:r>
            <a:r>
              <a:rPr lang="ru-UA" sz="800" dirty="0">
                <a:solidFill>
                  <a:schemeClr val="bg1"/>
                </a:solidFill>
              </a:rPr>
              <a:t>), </a:t>
            </a:r>
            <a:r>
              <a:rPr lang="ru-UA" sz="800" dirty="0" err="1">
                <a:solidFill>
                  <a:schemeClr val="bg1"/>
                </a:solidFill>
              </a:rPr>
              <a:t>with</a:t>
            </a:r>
            <a:r>
              <a:rPr lang="ru-UA" sz="800" dirty="0">
                <a:solidFill>
                  <a:schemeClr val="bg1"/>
                </a:solidFill>
              </a:rPr>
              <a:t> a </a:t>
            </a:r>
            <a:r>
              <a:rPr lang="ru-UA" sz="800" dirty="0" err="1">
                <a:solidFill>
                  <a:schemeClr val="bg1"/>
                </a:solidFill>
              </a:rPr>
              <a:t>mandatory</a:t>
            </a:r>
            <a:r>
              <a:rPr lang="ru-UA" sz="800" dirty="0">
                <a:solidFill>
                  <a:schemeClr val="bg1"/>
                </a:solidFill>
              </a:rPr>
              <a:t> </a:t>
            </a:r>
            <a:r>
              <a:rPr lang="ru-UA" sz="800" dirty="0" err="1">
                <a:solidFill>
                  <a:schemeClr val="bg1"/>
                </a:solidFill>
              </a:rPr>
              <a:t>upturn</a:t>
            </a:r>
            <a:r>
              <a:rPr lang="ru-UA" sz="800" dirty="0">
                <a:solidFill>
                  <a:schemeClr val="bg1"/>
                </a:solidFill>
              </a:rPr>
              <a:t> </a:t>
            </a:r>
            <a:r>
              <a:rPr lang="ru-UA" sz="800" dirty="0" err="1">
                <a:solidFill>
                  <a:schemeClr val="bg1"/>
                </a:solidFill>
              </a:rPr>
              <a:t>onto</a:t>
            </a:r>
            <a:r>
              <a:rPr lang="ru-UA" sz="800" dirty="0">
                <a:solidFill>
                  <a:schemeClr val="bg1"/>
                </a:solidFill>
              </a:rPr>
              <a:t> </a:t>
            </a:r>
            <a:r>
              <a:rPr lang="ru-UA" sz="800" dirty="0" err="1">
                <a:solidFill>
                  <a:schemeClr val="bg1"/>
                </a:solidFill>
              </a:rPr>
              <a:t>the</a:t>
            </a:r>
            <a:r>
              <a:rPr lang="ru-UA" sz="800" dirty="0">
                <a:solidFill>
                  <a:schemeClr val="bg1"/>
                </a:solidFill>
              </a:rPr>
              <a:t> </a:t>
            </a:r>
            <a:r>
              <a:rPr lang="ru-UA" sz="800" dirty="0" err="1">
                <a:solidFill>
                  <a:schemeClr val="bg1"/>
                </a:solidFill>
              </a:rPr>
              <a:t>walls</a:t>
            </a:r>
            <a:r>
              <a:rPr lang="ru-UA" sz="800" dirty="0">
                <a:solidFill>
                  <a:schemeClr val="bg1"/>
                </a:solidFill>
              </a:rPr>
              <a:t> </a:t>
            </a:r>
            <a:r>
              <a:rPr lang="ru-UA" sz="800" dirty="0" err="1">
                <a:solidFill>
                  <a:schemeClr val="bg1"/>
                </a:solidFill>
              </a:rPr>
              <a:t>to</a:t>
            </a:r>
            <a:r>
              <a:rPr lang="ru-UA" sz="800" dirty="0">
                <a:solidFill>
                  <a:schemeClr val="bg1"/>
                </a:solidFill>
              </a:rPr>
              <a:t> a </a:t>
            </a:r>
            <a:r>
              <a:rPr lang="ru-UA" sz="800" dirty="0" err="1">
                <a:solidFill>
                  <a:schemeClr val="bg1"/>
                </a:solidFill>
              </a:rPr>
              <a:t>height</a:t>
            </a:r>
            <a:r>
              <a:rPr lang="ru-UA" sz="800" dirty="0">
                <a:solidFill>
                  <a:schemeClr val="bg1"/>
                </a:solidFill>
              </a:rPr>
              <a:t> </a:t>
            </a:r>
            <a:r>
              <a:rPr lang="ru-UA" sz="800" dirty="0" err="1">
                <a:solidFill>
                  <a:schemeClr val="bg1"/>
                </a:solidFill>
              </a:rPr>
              <a:t>of</a:t>
            </a:r>
            <a:r>
              <a:rPr lang="ru-UA" sz="800" dirty="0">
                <a:solidFill>
                  <a:schemeClr val="bg1"/>
                </a:solidFill>
              </a:rPr>
              <a:t> </a:t>
            </a:r>
            <a:r>
              <a:rPr lang="ru-UA" sz="800" b="1" dirty="0">
                <a:solidFill>
                  <a:schemeClr val="bg1"/>
                </a:solidFill>
              </a:rPr>
              <a:t>200 </a:t>
            </a:r>
            <a:r>
              <a:rPr lang="ru-UA" sz="800" b="1" dirty="0" err="1">
                <a:solidFill>
                  <a:schemeClr val="bg1"/>
                </a:solidFill>
              </a:rPr>
              <a:t>mm</a:t>
            </a:r>
            <a:r>
              <a:rPr lang="ru-UA" sz="800" dirty="0">
                <a:solidFill>
                  <a:schemeClr val="bg1"/>
                </a:solidFill>
              </a:rPr>
              <a:t>, </a:t>
            </a:r>
            <a:r>
              <a:rPr lang="ru-UA" sz="800" dirty="0" err="1">
                <a:solidFill>
                  <a:schemeClr val="bg1"/>
                </a:solidFill>
              </a:rPr>
              <a:t>and</a:t>
            </a:r>
            <a:r>
              <a:rPr lang="ru-UA" sz="800" dirty="0">
                <a:solidFill>
                  <a:schemeClr val="bg1"/>
                </a:solidFill>
              </a:rPr>
              <a:t> </a:t>
            </a:r>
            <a:r>
              <a:rPr lang="ru-UA" sz="800" dirty="0" err="1">
                <a:solidFill>
                  <a:schemeClr val="bg1"/>
                </a:solidFill>
              </a:rPr>
              <a:t>the</a:t>
            </a:r>
            <a:r>
              <a:rPr lang="ru-UA" sz="800" dirty="0">
                <a:solidFill>
                  <a:schemeClr val="bg1"/>
                </a:solidFill>
              </a:rPr>
              <a:t> </a:t>
            </a:r>
            <a:r>
              <a:rPr lang="ru-UA" sz="800" dirty="0" err="1">
                <a:solidFill>
                  <a:schemeClr val="bg1"/>
                </a:solidFill>
              </a:rPr>
              <a:t>provision</a:t>
            </a:r>
            <a:r>
              <a:rPr lang="ru-UA" sz="800" dirty="0">
                <a:solidFill>
                  <a:schemeClr val="bg1"/>
                </a:solidFill>
              </a:rPr>
              <a:t> </a:t>
            </a:r>
            <a:r>
              <a:rPr lang="ru-UA" sz="800" dirty="0" err="1">
                <a:solidFill>
                  <a:schemeClr val="bg1"/>
                </a:solidFill>
              </a:rPr>
              <a:t>of</a:t>
            </a:r>
            <a:r>
              <a:rPr lang="ru-UA" sz="800" dirty="0">
                <a:solidFill>
                  <a:schemeClr val="bg1"/>
                </a:solidFill>
              </a:rPr>
              <a:t> a </a:t>
            </a:r>
            <a:r>
              <a:rPr lang="ru-UA" sz="800" b="1" dirty="0" err="1">
                <a:solidFill>
                  <a:schemeClr val="bg1"/>
                </a:solidFill>
              </a:rPr>
              <a:t>floor</a:t>
            </a:r>
            <a:r>
              <a:rPr lang="ru-UA" sz="800" b="1" dirty="0">
                <a:solidFill>
                  <a:schemeClr val="bg1"/>
                </a:solidFill>
              </a:rPr>
              <a:t> </a:t>
            </a:r>
            <a:r>
              <a:rPr lang="ru-UA" sz="800" b="1" dirty="0" err="1">
                <a:solidFill>
                  <a:schemeClr val="bg1"/>
                </a:solidFill>
              </a:rPr>
              <a:t>level</a:t>
            </a:r>
            <a:r>
              <a:rPr lang="ru-UA" sz="800" b="1" dirty="0">
                <a:solidFill>
                  <a:schemeClr val="bg1"/>
                </a:solidFill>
              </a:rPr>
              <a:t> </a:t>
            </a:r>
            <a:r>
              <a:rPr lang="ru-UA" sz="800" b="1" dirty="0" err="1">
                <a:solidFill>
                  <a:schemeClr val="bg1"/>
                </a:solidFill>
              </a:rPr>
              <a:t>difference</a:t>
            </a:r>
            <a:r>
              <a:rPr lang="ru-UA" sz="800" b="1" dirty="0">
                <a:solidFill>
                  <a:schemeClr val="bg1"/>
                </a:solidFill>
              </a:rPr>
              <a:t> (</a:t>
            </a:r>
            <a:r>
              <a:rPr lang="ru-UA" sz="800" b="1" dirty="0" err="1">
                <a:solidFill>
                  <a:schemeClr val="bg1"/>
                </a:solidFill>
              </a:rPr>
              <a:t>or</a:t>
            </a:r>
            <a:r>
              <a:rPr lang="ru-UA" sz="800" b="1" dirty="0">
                <a:solidFill>
                  <a:schemeClr val="bg1"/>
                </a:solidFill>
              </a:rPr>
              <a:t> </a:t>
            </a:r>
            <a:r>
              <a:rPr lang="ru-UA" sz="800" b="1" dirty="0" err="1">
                <a:solidFill>
                  <a:schemeClr val="bg1"/>
                </a:solidFill>
              </a:rPr>
              <a:t>threshold</a:t>
            </a:r>
            <a:r>
              <a:rPr lang="ru-UA" sz="800" b="1" dirty="0">
                <a:solidFill>
                  <a:schemeClr val="bg1"/>
                </a:solidFill>
              </a:rPr>
              <a:t>)</a:t>
            </a:r>
            <a:r>
              <a:rPr lang="ru-UA" sz="800" dirty="0">
                <a:solidFill>
                  <a:schemeClr val="bg1"/>
                </a:solidFill>
              </a:rPr>
              <a:t> </a:t>
            </a:r>
            <a:r>
              <a:rPr lang="ru-UA" sz="800" dirty="0" err="1">
                <a:solidFill>
                  <a:schemeClr val="bg1"/>
                </a:solidFill>
              </a:rPr>
              <a:t>of</a:t>
            </a:r>
            <a:r>
              <a:rPr lang="ru-UA" sz="800" dirty="0">
                <a:solidFill>
                  <a:schemeClr val="bg1"/>
                </a:solidFill>
              </a:rPr>
              <a:t> </a:t>
            </a:r>
            <a:r>
              <a:rPr lang="ru-UA" sz="800" b="1" dirty="0">
                <a:solidFill>
                  <a:schemeClr val="bg1"/>
                </a:solidFill>
              </a:rPr>
              <a:t>15–20 </a:t>
            </a:r>
            <a:r>
              <a:rPr lang="ru-UA" sz="800" b="1" dirty="0" err="1">
                <a:solidFill>
                  <a:schemeClr val="bg1"/>
                </a:solidFill>
              </a:rPr>
              <a:t>mm</a:t>
            </a:r>
            <a:r>
              <a:rPr lang="ru-UA" sz="800" dirty="0">
                <a:solidFill>
                  <a:schemeClr val="bg1"/>
                </a:solidFill>
              </a:rPr>
              <a:t>.</a:t>
            </a:r>
            <a:r>
              <a:rPr lang="en-US" sz="8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429000" y="3310128"/>
            <a:ext cx="2468880" cy="365760"/>
          </a:xfrm>
          <a:prstGeom prst="roundRect">
            <a:avLst>
              <a:gd name="adj" fmla="val 17500"/>
            </a:avLst>
          </a:prstGeom>
          <a:solidFill>
            <a:srgbClr val="065F4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33101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Retrieved</a:t>
            </a:r>
            <a:r>
              <a:rPr lang="uk-UA" sz="9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generated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29000" y="3749040"/>
            <a:ext cx="2468880" cy="685800"/>
          </a:xfrm>
          <a:prstGeom prst="roundRect">
            <a:avLst>
              <a:gd name="adj" fmla="val 9333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37490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detected: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150mm specified, 200mm required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132588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LLM (Gemini)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46520" y="1755648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 citation that appeared valid but did not match any actual document in the corpus.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46520" y="2926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value (200mm) was correct — but the source reference was fabricated.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46520" y="3977640"/>
            <a:ext cx="2286000" cy="502920"/>
          </a:xfrm>
          <a:prstGeom prst="roundRect">
            <a:avLst>
              <a:gd name="adj" fmla="val 12727"/>
            </a:avLst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3977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Fabricated citation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unusable for audit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1303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r>
              <a:rPr lang="en-US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QA mode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 · ACM MM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15924" y="1192957"/>
            <a:ext cx="4355531" cy="267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1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</a:t>
            </a:r>
            <a:r>
              <a:rPr lang="en-US" sz="1050" i="1" dirty="0">
                <a:solidFill>
                  <a:srgbClr val="112952"/>
                </a:solidFill>
                <a:latin typeface="Calibri" pitchFamily="34" charset="0"/>
                <a:cs typeface="Calibri" pitchFamily="34" charset="-120"/>
              </a:rPr>
              <a:t>A-mode</a:t>
            </a:r>
            <a:r>
              <a:rPr lang="en-US" sz="1050" i="1" dirty="0">
                <a:solidFill>
                  <a:srgbClr val="11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answer quality (LLM-as-judge, 1–10 scale, weighted aggregate)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186882"/>
              </p:ext>
            </p:extLst>
          </p:nvPr>
        </p:nvGraphicFramePr>
        <p:xfrm>
          <a:off x="4667950" y="1501138"/>
          <a:ext cx="4348067" cy="3040380"/>
        </p:xfrm>
        <a:graphic>
          <a:graphicData uri="http://schemas.openxmlformats.org/drawingml/2006/table">
            <a:tbl>
              <a:tblPr/>
              <a:tblGrid>
                <a:gridCol w="516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02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4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42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26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96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080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(0.25)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(0.20)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(0.35)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Eff. (tok)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(0.10)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Lat. (s)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(0.10)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0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 (~100)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 (~10s)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0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RAG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 (~2.6k)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 (~11s)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0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Full-Context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(~170k)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 (~75s)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0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LEX (Ours)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 (~5.2k)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 (~10s)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365760" y="4877267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Corpus: 2,877 RF docs (СП · ГОСТ · СНиП)  ·  Pilot: residential complex, Yuzhnoural'sk, Chelyabinsk region (202</a:t>
            </a:r>
            <a:r>
              <a:rPr lang="ru-RU" sz="850" i="1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850" i="1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 ·  Detailed in: github.com/petrtym/lexbench</a:t>
            </a:r>
            <a:endParaRPr lang="en-US" sz="850" dirty="0"/>
          </a:p>
        </p:txBody>
      </p:sp>
      <p:graphicFrame>
        <p:nvGraphicFramePr>
          <p:cNvPr id="22" name="Table 0">
            <a:extLst>
              <a:ext uri="{FF2B5EF4-FFF2-40B4-BE49-F238E27FC236}">
                <a16:creationId xmlns:a16="http://schemas.microsoft.com/office/drawing/2014/main" id="{EF20DF24-5236-CCBC-6844-45D2C5F8C3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40033"/>
              </p:ext>
            </p:extLst>
          </p:nvPr>
        </p:nvGraphicFramePr>
        <p:xfrm>
          <a:off x="223933" y="1501138"/>
          <a:ext cx="4348068" cy="3040382"/>
        </p:xfrm>
        <a:graphic>
          <a:graphicData uri="http://schemas.openxmlformats.org/drawingml/2006/table">
            <a:tbl>
              <a:tblPr/>
              <a:tblGrid>
                <a:gridCol w="8581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0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5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335470672"/>
                    </a:ext>
                  </a:extLst>
                </a:gridCol>
                <a:gridCol w="358140">
                  <a:extLst>
                    <a:ext uri="{9D8B030D-6E8A-4147-A177-3AD203B41FA5}">
                      <a16:colId xmlns:a16="http://schemas.microsoft.com/office/drawing/2014/main" val="2934463223"/>
                    </a:ext>
                  </a:extLst>
                </a:gridCol>
                <a:gridCol w="388620">
                  <a:extLst>
                    <a:ext uri="{9D8B030D-6E8A-4147-A177-3AD203B41FA5}">
                      <a16:colId xmlns:a16="http://schemas.microsoft.com/office/drawing/2014/main" val="2601871790"/>
                    </a:ext>
                  </a:extLst>
                </a:gridCol>
                <a:gridCol w="373381">
                  <a:extLst>
                    <a:ext uri="{9D8B030D-6E8A-4147-A177-3AD203B41FA5}">
                      <a16:colId xmlns:a16="http://schemas.microsoft.com/office/drawing/2014/main" val="2909425781"/>
                    </a:ext>
                  </a:extLst>
                </a:gridCol>
              </a:tblGrid>
              <a:tr h="5678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Config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Q1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Q2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Q3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Q4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Q5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Q6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Q7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Q8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Q9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Q10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 General LLM (GPT-5.2)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latin typeface="Calibri" charset="0"/>
                          <a:ea typeface="Calibri" charset="0"/>
                          <a:cs typeface="Calibri" charset="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latin typeface="Calibri" charset="0"/>
                          <a:ea typeface="Calibri" charset="0"/>
                          <a:cs typeface="Calibri" charset="0"/>
                        </a:rPr>
                        <a:t>4.1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latin typeface="Calibri" charset="0"/>
                          <a:ea typeface="Calibri" charset="0"/>
                          <a:cs typeface="Calibri" charset="0"/>
                        </a:rPr>
                        <a:t>8.1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latin typeface="Calibri" charset="0"/>
                          <a:ea typeface="Calibri" charset="0"/>
                          <a:cs typeface="Calibri" charset="0"/>
                        </a:rPr>
                        <a:t>8.7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latin typeface="Calibri" charset="0"/>
                          <a:ea typeface="Calibri" charset="0"/>
                          <a:cs typeface="Calibri" charset="0"/>
                        </a:rPr>
                        <a:t>7.5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8.4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8.1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5.4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6.2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9.4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it-IT" sz="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RAG (E5-Large + Gemini 3 Pro)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8</a:t>
                      </a:r>
                      <a:r>
                        <a:rPr lang="ru-RU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3.3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7.8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6.7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9.0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5.0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8.7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8.3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8.1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Full-Context Injection </a:t>
                      </a:r>
                      <a:br>
                        <a:rPr lang="en-US" sz="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</a:br>
                      <a:r>
                        <a:rPr lang="en-US" sz="8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(Gemini 3 Pro)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8.4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9.7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9.3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40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latin typeface="Calibri" charset="0"/>
                          <a:ea typeface="Calibri" charset="0"/>
                          <a:cs typeface="Calibri" charset="0"/>
                        </a:rPr>
                        <a:t>LEX (Ours) (Neuro-Symbolic System)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9.3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9.3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9.7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7.2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8.4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8.7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9.7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9.3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8.7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A3755BAF-22EE-71B9-BC76-69C889770913}"/>
              </a:ext>
            </a:extLst>
          </p:cNvPr>
          <p:cNvSpPr txBox="1"/>
          <p:nvPr/>
        </p:nvSpPr>
        <p:spPr>
          <a:xfrm>
            <a:off x="50928" y="1192958"/>
            <a:ext cx="469407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UA" sz="1050" i="1" dirty="0">
                <a:solidFill>
                  <a:srgbClr val="112952"/>
                </a:solidFill>
                <a:latin typeface="Calibri" pitchFamily="34" charset="0"/>
                <a:cs typeface="Calibri" pitchFamily="34" charset="-120"/>
              </a:rPr>
              <a:t>Quality </a:t>
            </a:r>
            <a:r>
              <a:rPr lang="ru-UA" sz="1050" i="1" dirty="0" err="1">
                <a:solidFill>
                  <a:srgbClr val="112952"/>
                </a:solidFill>
                <a:latin typeface="Calibri" pitchFamily="34" charset="0"/>
                <a:cs typeface="Calibri" pitchFamily="34" charset="-120"/>
              </a:rPr>
              <a:t>Comparison</a:t>
            </a:r>
            <a:r>
              <a:rPr lang="ru-UA" sz="1050" i="1" dirty="0">
                <a:solidFill>
                  <a:srgbClr val="112952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ru-UA" sz="1050" i="1" dirty="0" err="1">
                <a:solidFill>
                  <a:srgbClr val="112952"/>
                </a:solidFill>
                <a:latin typeface="Calibri" pitchFamily="34" charset="0"/>
                <a:cs typeface="Calibri" pitchFamily="34" charset="-120"/>
              </a:rPr>
              <a:t>across</a:t>
            </a:r>
            <a:r>
              <a:rPr lang="ru-UA" sz="1050" i="1" dirty="0">
                <a:solidFill>
                  <a:srgbClr val="112952"/>
                </a:solidFill>
                <a:latin typeface="Calibri" pitchFamily="34" charset="0"/>
                <a:cs typeface="Calibri" pitchFamily="34" charset="-120"/>
              </a:rPr>
              <a:t> 10 </a:t>
            </a:r>
            <a:r>
              <a:rPr lang="ru-UA" sz="1050" i="1" dirty="0" err="1">
                <a:solidFill>
                  <a:srgbClr val="112952"/>
                </a:solidFill>
                <a:latin typeface="Calibri" pitchFamily="34" charset="0"/>
                <a:cs typeface="Calibri" pitchFamily="34" charset="-120"/>
              </a:rPr>
              <a:t>Complex</a:t>
            </a:r>
            <a:r>
              <a:rPr lang="ru-UA" sz="1050" i="1" dirty="0">
                <a:solidFill>
                  <a:srgbClr val="112952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ru-UA" sz="1050" i="1" dirty="0" err="1">
                <a:solidFill>
                  <a:srgbClr val="112952"/>
                </a:solidFill>
                <a:latin typeface="Calibri" pitchFamily="34" charset="0"/>
                <a:cs typeface="Calibri" pitchFamily="34" charset="-120"/>
              </a:rPr>
              <a:t>Adversarial</a:t>
            </a:r>
            <a:r>
              <a:rPr lang="ru-UA" sz="1050" i="1" dirty="0">
                <a:solidFill>
                  <a:srgbClr val="112952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ru-UA" sz="1050" i="1" dirty="0" err="1">
                <a:solidFill>
                  <a:srgbClr val="112952"/>
                </a:solidFill>
                <a:latin typeface="Calibri" pitchFamily="34" charset="0"/>
                <a:cs typeface="Calibri" pitchFamily="34" charset="-120"/>
              </a:rPr>
              <a:t>Queries</a:t>
            </a:r>
            <a:r>
              <a:rPr lang="ru-UA" sz="1050" i="1" dirty="0">
                <a:solidFill>
                  <a:srgbClr val="112952"/>
                </a:solidFill>
                <a:latin typeface="Calibri" pitchFamily="34" charset="0"/>
                <a:cs typeface="Calibri" pitchFamily="34" charset="-120"/>
              </a:rPr>
              <a:t> (</a:t>
            </a:r>
            <a:r>
              <a:rPr lang="ru-UA" sz="1050" i="1" dirty="0" err="1">
                <a:solidFill>
                  <a:srgbClr val="112952"/>
                </a:solidFill>
                <a:latin typeface="Calibri" pitchFamily="34" charset="0"/>
                <a:cs typeface="Calibri" pitchFamily="34" charset="-120"/>
              </a:rPr>
              <a:t>Weighted</a:t>
            </a:r>
            <a:r>
              <a:rPr lang="ru-UA" sz="1050" i="1" dirty="0">
                <a:solidFill>
                  <a:srgbClr val="112952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ru-UA" sz="1050" i="1" dirty="0" err="1">
                <a:solidFill>
                  <a:srgbClr val="112952"/>
                </a:solidFill>
                <a:latin typeface="Calibri" pitchFamily="34" charset="0"/>
                <a:cs typeface="Calibri" pitchFamily="34" charset="-120"/>
              </a:rPr>
              <a:t>Score</a:t>
            </a:r>
            <a:r>
              <a:rPr lang="ru-UA" sz="1050" i="1" dirty="0">
                <a:solidFill>
                  <a:srgbClr val="112952"/>
                </a:solidFill>
                <a:latin typeface="Calibri" pitchFamily="34" charset="0"/>
                <a:cs typeface="Calibri" pitchFamily="34" charset="-120"/>
              </a:rPr>
              <a:t>, 1–10)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6400AE-C511-FE17-5AB3-96A0E3D3F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877D70C-A88C-8372-E959-40B01C4D4501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D4CFEE9-F1F4-DF0C-70A6-53654570AA44}"/>
              </a:ext>
            </a:extLst>
          </p:cNvPr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r>
              <a:rPr lang="en-US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Audit mode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0DC1343-9A70-CE3C-7546-4610CC34442B}"/>
              </a:ext>
            </a:extLst>
          </p:cNvPr>
          <p:cNvSpPr/>
          <p:nvPr/>
        </p:nvSpPr>
        <p:spPr>
          <a:xfrm>
            <a:off x="6858000" y="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 · ACM MM 2026</a:t>
            </a:r>
            <a:endParaRPr lang="en-US" sz="9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1411F13-FCDD-7799-60CF-C5D10ACEC3C3}"/>
              </a:ext>
            </a:extLst>
          </p:cNvPr>
          <p:cNvSpPr/>
          <p:nvPr/>
        </p:nvSpPr>
        <p:spPr>
          <a:xfrm>
            <a:off x="365760" y="4877267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Corpus: 2,877 RF docs (СП · ГОСТ · СНиП)  ·  Pilot: residential complex, Yuzhnoural'sk, Chelyabinsk region (202</a:t>
            </a:r>
            <a:r>
              <a:rPr lang="ru-RU" sz="850" i="1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850" i="1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 ·  github.com/petrtym/lexbench</a:t>
            </a:r>
            <a:endParaRPr lang="en-US" sz="8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6392ADC2-E719-AD25-197A-65669889DB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137832"/>
              </p:ext>
            </p:extLst>
          </p:nvPr>
        </p:nvGraphicFramePr>
        <p:xfrm>
          <a:off x="365760" y="1061419"/>
          <a:ext cx="4799199" cy="3857500"/>
        </p:xfrm>
        <a:graphic>
          <a:graphicData uri="http://schemas.openxmlformats.org/drawingml/2006/table">
            <a:tbl>
              <a:tblPr/>
              <a:tblGrid>
                <a:gridCol w="535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49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9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4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98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13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13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1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Section Code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Domain / Subsection (under PP-87)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Facts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Decisions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Calculations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 Data Density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KR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Structural Solutions (</a:t>
                      </a:r>
                      <a:r>
                        <a:rPr lang="ru-RU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КР)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117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1,012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7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0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100%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248252"/>
                  </a:ext>
                </a:extLst>
              </a:tr>
              <a:tr h="2687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IOS-1.2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Power Supply — Part 2: Internal Electrical Systems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71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483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48%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536061"/>
                  </a:ext>
                </a:extLst>
              </a:tr>
              <a:tr h="1792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AR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Architectural Solutions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48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438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0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0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43%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761990"/>
                  </a:ext>
                </a:extLst>
              </a:tr>
              <a:tr h="1792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>
                          <a:latin typeface="Calibri" charset="0"/>
                          <a:ea typeface="Calibri" charset="0"/>
                          <a:cs typeface="Calibri" charset="0"/>
                        </a:rPr>
                        <a:t>IOS-3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Water Disposal / Sewerage &amp; Drainage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49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427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0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42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008665"/>
                  </a:ext>
                </a:extLst>
              </a:tr>
              <a:tr h="2687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>
                          <a:latin typeface="Calibri" charset="0"/>
                          <a:ea typeface="Calibri" charset="0"/>
                          <a:cs typeface="Calibri" charset="0"/>
                        </a:rPr>
                        <a:t>IOS-4.2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HVAC — Part 2: Heating, Ventilation &amp; Air Conditioning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63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392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4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39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612186"/>
                  </a:ext>
                </a:extLst>
              </a:tr>
              <a:tr h="1792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>
                          <a:latin typeface="Calibri" charset="0"/>
                          <a:ea typeface="Calibri" charset="0"/>
                          <a:cs typeface="Calibri" charset="0"/>
                        </a:rPr>
                        <a:t>IOS-2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Water Supply (Internal Network)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44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235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11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23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889874"/>
                  </a:ext>
                </a:extLst>
              </a:tr>
              <a:tr h="2687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>
                          <a:latin typeface="Calibri" charset="0"/>
                          <a:ea typeface="Calibri" charset="0"/>
                          <a:cs typeface="Calibri" charset="0"/>
                        </a:rPr>
                        <a:t>IOS-5.2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Telecom Networks — Part 2: Fire Alarm System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39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234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4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5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23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532680"/>
                  </a:ext>
                </a:extLst>
              </a:tr>
              <a:tr h="2687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>
                          <a:latin typeface="Calibri" charset="0"/>
                          <a:ea typeface="Calibri" charset="0"/>
                          <a:cs typeface="Calibri" charset="0"/>
                        </a:rPr>
                        <a:t>IOS-5.1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Telecom Networks — Part 1: Communication &amp; Signaling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31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180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0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18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488521"/>
                  </a:ext>
                </a:extLst>
              </a:tr>
              <a:tr h="1792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PZU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Site Plan &amp; Land Plot Organization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27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137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10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9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13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2253"/>
                  </a:ext>
                </a:extLst>
              </a:tr>
              <a:tr h="2687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IOS-4.1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HVAC — Part 1: Heating Network &amp; Substation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27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106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6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5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10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290086"/>
                  </a:ext>
                </a:extLst>
              </a:tr>
              <a:tr h="1792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PZ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General Explanatory Note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32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67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14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11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6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89853"/>
                  </a:ext>
                </a:extLst>
              </a:tr>
              <a:tr h="2687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IOS-1.1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Power Supply — Part 1: Main Switchgear / Switchbox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21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42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4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0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4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917020"/>
                  </a:ext>
                </a:extLst>
              </a:tr>
              <a:tr h="2687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IOS-5.3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Telecom Networks — Part 3: Elevator Dispatch &amp; Lift Monitoring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16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38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4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0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3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821191"/>
                  </a:ext>
                </a:extLst>
              </a:tr>
              <a:tr h="5374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TOTAL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Sum of all 13 Project Sections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585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3,791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76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38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Full Project Graph Compiled</a:t>
                      </a:r>
                      <a:r>
                        <a:rPr lang="uk-UA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 </a:t>
                      </a: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and checked in </a:t>
                      </a:r>
                      <a:b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</a:br>
                      <a:r>
                        <a:rPr lang="en-US" sz="600" dirty="0">
                          <a:latin typeface="Calibri" charset="0"/>
                          <a:ea typeface="Calibri" charset="0"/>
                          <a:cs typeface="Calibri" charset="0"/>
                        </a:rPr>
                        <a:t>2 hours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744624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B96EF703-278A-3A77-BB92-8C3A5C8C74D1}"/>
              </a:ext>
            </a:extLst>
          </p:cNvPr>
          <p:cNvSpPr txBox="1"/>
          <p:nvPr/>
        </p:nvSpPr>
        <p:spPr>
          <a:xfrm>
            <a:off x="1852864" y="807503"/>
            <a:ext cx="182499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UA" sz="1050" i="1" dirty="0" err="1">
                <a:solidFill>
                  <a:srgbClr val="112952"/>
                </a:solidFill>
                <a:latin typeface="Calibri" pitchFamily="34" charset="0"/>
                <a:cs typeface="Calibri" pitchFamily="34" charset="-120"/>
              </a:rPr>
              <a:t>Per-Section</a:t>
            </a:r>
            <a:r>
              <a:rPr lang="ru-UA" sz="1050" i="1" dirty="0">
                <a:solidFill>
                  <a:srgbClr val="112952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ru-UA" sz="1050" i="1" dirty="0" err="1">
                <a:solidFill>
                  <a:srgbClr val="112952"/>
                </a:solidFill>
                <a:latin typeface="Calibri" pitchFamily="34" charset="0"/>
                <a:cs typeface="Calibri" pitchFamily="34" charset="-120"/>
              </a:rPr>
              <a:t>Graph</a:t>
            </a:r>
            <a:r>
              <a:rPr lang="ru-UA" sz="1050" i="1" dirty="0">
                <a:solidFill>
                  <a:srgbClr val="112952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ru-UA" sz="1050" i="1" dirty="0" err="1">
                <a:solidFill>
                  <a:srgbClr val="112952"/>
                </a:solidFill>
                <a:latin typeface="Calibri" pitchFamily="34" charset="0"/>
                <a:cs typeface="Calibri" pitchFamily="34" charset="-120"/>
              </a:rPr>
              <a:t>Breakdown</a:t>
            </a:r>
            <a:endParaRPr lang="ru-UA" sz="1050" i="1" dirty="0">
              <a:solidFill>
                <a:srgbClr val="112952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A7AF01-14F3-B059-EFA6-5B0C7C69914E}"/>
              </a:ext>
            </a:extLst>
          </p:cNvPr>
          <p:cNvSpPr txBox="1"/>
          <p:nvPr/>
        </p:nvSpPr>
        <p:spPr>
          <a:xfrm>
            <a:off x="5158740" y="1104700"/>
            <a:ext cx="4015740" cy="3677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ru-UA" sz="800" b="1" dirty="0" err="1"/>
              <a:t>Completeness</a:t>
            </a:r>
            <a:r>
              <a:rPr lang="ru-UA" sz="800" b="1" dirty="0"/>
              <a:t> Check (PP-87)</a:t>
            </a:r>
            <a:r>
              <a:rPr lang="ru-UA" sz="800" dirty="0"/>
              <a:t>:</a:t>
            </a:r>
          </a:p>
          <a:p>
            <a:r>
              <a:rPr lang="en-US" sz="800" dirty="0"/>
              <a:t>Flagged 3 missing critical sections required for </a:t>
            </a:r>
            <a:r>
              <a:rPr lang="en-US" sz="800" dirty="0" err="1"/>
              <a:t>Glavgosexpertiza</a:t>
            </a:r>
            <a:r>
              <a:rPr lang="en-US" sz="800" dirty="0"/>
              <a:t> (GGE) state submission: POS (Construction Organization), OOS (Environmental Protection), and PB (Fire Safety).</a:t>
            </a:r>
            <a:endParaRPr lang="uk-UA" sz="800" dirty="0"/>
          </a:p>
          <a:p>
            <a:endParaRPr lang="uk-UA" sz="800" dirty="0"/>
          </a:p>
          <a:p>
            <a:r>
              <a:rPr lang="ru-UA" sz="800" b="1" dirty="0"/>
              <a:t>Cross-</a:t>
            </a:r>
            <a:r>
              <a:rPr lang="ru-UA" sz="800" b="1" dirty="0" err="1"/>
              <a:t>Section</a:t>
            </a:r>
            <a:r>
              <a:rPr lang="ru-UA" sz="800" b="1" dirty="0"/>
              <a:t> </a:t>
            </a:r>
            <a:r>
              <a:rPr lang="ru-UA" sz="800" b="1" dirty="0" err="1"/>
              <a:t>Consistency</a:t>
            </a:r>
            <a:r>
              <a:rPr lang="ru-UA" sz="800" b="1" dirty="0"/>
              <a:t> (</a:t>
            </a:r>
            <a:r>
              <a:rPr lang="ru-UA" sz="800" b="1" dirty="0" err="1"/>
              <a:t>Triage</a:t>
            </a:r>
            <a:r>
              <a:rPr lang="ru-UA" sz="800" b="1" dirty="0"/>
              <a:t> </a:t>
            </a:r>
            <a:r>
              <a:rPr lang="ru-UA" sz="800" b="1" dirty="0" err="1"/>
              <a:t>of</a:t>
            </a:r>
            <a:r>
              <a:rPr lang="ru-UA" sz="800" b="1" dirty="0"/>
              <a:t> 13 </a:t>
            </a:r>
            <a:r>
              <a:rPr lang="ru-UA" sz="800" b="1" dirty="0" err="1"/>
              <a:t>Flags</a:t>
            </a:r>
            <a:r>
              <a:rPr lang="ru-UA" sz="800" b="1" dirty="0"/>
              <a:t>)</a:t>
            </a:r>
            <a:r>
              <a:rPr lang="ru-UA" sz="800" dirty="0"/>
              <a:t>:</a:t>
            </a:r>
            <a:endParaRPr lang="uk-UA" sz="800" dirty="0"/>
          </a:p>
          <a:p>
            <a:endParaRPr lang="uk-UA" sz="800" i="1" dirty="0"/>
          </a:p>
          <a:p>
            <a:r>
              <a:rPr lang="ru-UA" sz="800" i="1" dirty="0"/>
              <a:t>7 </a:t>
            </a:r>
            <a:r>
              <a:rPr lang="ru-UA" sz="800" i="1" dirty="0" err="1"/>
              <a:t>Semantic</a:t>
            </a:r>
            <a:r>
              <a:rPr lang="ru-UA" sz="800" i="1" dirty="0"/>
              <a:t> </a:t>
            </a:r>
            <a:r>
              <a:rPr lang="ru-UA" sz="800" i="1" dirty="0" err="1"/>
              <a:t>False</a:t>
            </a:r>
            <a:r>
              <a:rPr lang="ru-UA" sz="800" i="1" dirty="0"/>
              <a:t> </a:t>
            </a:r>
            <a:r>
              <a:rPr lang="ru-UA" sz="800" i="1" dirty="0" err="1"/>
              <a:t>Positives</a:t>
            </a:r>
            <a:r>
              <a:rPr lang="ru-UA" sz="800" i="1" dirty="0"/>
              <a:t> (</a:t>
            </a:r>
            <a:r>
              <a:rPr lang="ru-UA" sz="800" i="1" dirty="0" err="1"/>
              <a:t>Benign</a:t>
            </a:r>
            <a:r>
              <a:rPr lang="ru-UA" sz="800" i="1" dirty="0"/>
              <a:t>)</a:t>
            </a:r>
            <a:r>
              <a:rPr lang="ru-UA" sz="800" dirty="0"/>
              <a:t>: </a:t>
            </a:r>
            <a:r>
              <a:rPr lang="ru-UA" sz="800" dirty="0" err="1"/>
              <a:t>Filtered</a:t>
            </a:r>
            <a:r>
              <a:rPr lang="ru-UA" sz="800" dirty="0"/>
              <a:t> </a:t>
            </a:r>
            <a:r>
              <a:rPr lang="ru-UA" sz="800" dirty="0" err="1"/>
              <a:t>out</a:t>
            </a:r>
            <a:r>
              <a:rPr lang="ru-UA" sz="800" dirty="0"/>
              <a:t> </a:t>
            </a:r>
            <a:r>
              <a:rPr lang="ru-UA" sz="800" dirty="0" err="1"/>
              <a:t>terminology</a:t>
            </a:r>
            <a:r>
              <a:rPr lang="ru-UA" sz="800" dirty="0"/>
              <a:t> </a:t>
            </a:r>
            <a:r>
              <a:rPr lang="ru-UA" sz="800" dirty="0" err="1"/>
              <a:t>discrepancies</a:t>
            </a:r>
            <a:r>
              <a:rPr lang="ru-UA" sz="800" dirty="0"/>
              <a:t> </a:t>
            </a:r>
            <a:r>
              <a:rPr lang="ru-UA" sz="800" dirty="0" err="1"/>
              <a:t>regarding</a:t>
            </a:r>
            <a:r>
              <a:rPr lang="ru-UA" sz="800" dirty="0"/>
              <a:t> </a:t>
            </a:r>
            <a:r>
              <a:rPr lang="ru-UA" sz="800" i="1" dirty="0" err="1"/>
              <a:t>Floors</a:t>
            </a:r>
            <a:r>
              <a:rPr lang="ru-UA" sz="800" i="1" dirty="0"/>
              <a:t> </a:t>
            </a:r>
            <a:r>
              <a:rPr lang="ru-UA" sz="800" i="1" dirty="0" err="1"/>
              <a:t>vs</a:t>
            </a:r>
            <a:r>
              <a:rPr lang="ru-UA" sz="800" i="1" dirty="0"/>
              <a:t>. </a:t>
            </a:r>
            <a:r>
              <a:rPr lang="ru-UA" sz="800" i="1" dirty="0" err="1"/>
              <a:t>Storeys</a:t>
            </a:r>
            <a:r>
              <a:rPr lang="ru-UA" sz="800" dirty="0"/>
              <a:t> (</a:t>
            </a:r>
            <a:r>
              <a:rPr lang="ru-UA" sz="800" dirty="0" err="1"/>
              <a:t>technical</a:t>
            </a:r>
            <a:r>
              <a:rPr lang="ru-UA" sz="800" dirty="0"/>
              <a:t> </a:t>
            </a:r>
            <a:r>
              <a:rPr lang="ru-UA" sz="800" dirty="0" err="1"/>
              <a:t>attic</a:t>
            </a:r>
            <a:r>
              <a:rPr lang="ru-UA" sz="800" dirty="0"/>
              <a:t> </a:t>
            </a:r>
            <a:r>
              <a:rPr lang="ru-UA" sz="800" dirty="0" err="1"/>
              <a:t>counted</a:t>
            </a:r>
            <a:r>
              <a:rPr lang="ru-UA" sz="800" dirty="0"/>
              <a:t> </a:t>
            </a:r>
            <a:r>
              <a:rPr lang="ru-UA" sz="800" dirty="0" err="1"/>
              <a:t>in</a:t>
            </a:r>
            <a:r>
              <a:rPr lang="ru-UA" sz="800" dirty="0"/>
              <a:t> PZ </a:t>
            </a:r>
            <a:r>
              <a:rPr lang="ru-UA" sz="800" dirty="0" err="1"/>
              <a:t>but</a:t>
            </a:r>
            <a:r>
              <a:rPr lang="ru-UA" sz="800" dirty="0"/>
              <a:t> </a:t>
            </a:r>
            <a:r>
              <a:rPr lang="ru-UA" sz="800" dirty="0" err="1"/>
              <a:t>excluded</a:t>
            </a:r>
            <a:r>
              <a:rPr lang="ru-UA" sz="800" dirty="0"/>
              <a:t> </a:t>
            </a:r>
            <a:r>
              <a:rPr lang="ru-UA" sz="800" dirty="0" err="1"/>
              <a:t>in</a:t>
            </a:r>
            <a:r>
              <a:rPr lang="ru-UA" sz="800" dirty="0"/>
              <a:t> </a:t>
            </a:r>
            <a:r>
              <a:rPr lang="ru-UA" sz="800" dirty="0" err="1"/>
              <a:t>structural</a:t>
            </a:r>
            <a:r>
              <a:rPr lang="ru-UA" sz="800" dirty="0"/>
              <a:t> </a:t>
            </a:r>
            <a:r>
              <a:rPr lang="ru-UA" sz="800" dirty="0" err="1"/>
              <a:t>sections</a:t>
            </a:r>
            <a:r>
              <a:rPr lang="ru-UA" sz="800" dirty="0"/>
              <a:t>).</a:t>
            </a:r>
            <a:endParaRPr lang="uk-UA" sz="800" dirty="0"/>
          </a:p>
          <a:p>
            <a:endParaRPr lang="uk-UA" sz="800" dirty="0"/>
          </a:p>
          <a:p>
            <a:r>
              <a:rPr lang="ru-UA" sz="800" i="1" dirty="0" err="1"/>
              <a:t>Confirmed</a:t>
            </a:r>
            <a:r>
              <a:rPr lang="ru-UA" sz="800" i="1" dirty="0"/>
              <a:t> </a:t>
            </a:r>
            <a:r>
              <a:rPr lang="ru-UA" sz="800" i="1" dirty="0" err="1"/>
              <a:t>Violations</a:t>
            </a:r>
            <a:r>
              <a:rPr lang="ru-UA" sz="800" dirty="0"/>
              <a:t>: </a:t>
            </a:r>
            <a:r>
              <a:rPr lang="ru-UA" sz="800" dirty="0" err="1"/>
              <a:t>Isolated</a:t>
            </a:r>
            <a:r>
              <a:rPr lang="ru-UA" sz="800" dirty="0"/>
              <a:t> </a:t>
            </a:r>
            <a:r>
              <a:rPr lang="ru-UA" sz="800" dirty="0" err="1"/>
              <a:t>critical</a:t>
            </a:r>
            <a:r>
              <a:rPr lang="ru-UA" sz="800" dirty="0"/>
              <a:t> </a:t>
            </a:r>
            <a:r>
              <a:rPr lang="ru-UA" sz="800" dirty="0" err="1"/>
              <a:t>mismatches</a:t>
            </a:r>
            <a:r>
              <a:rPr lang="ru-UA" sz="800" dirty="0"/>
              <a:t>, </a:t>
            </a:r>
            <a:r>
              <a:rPr lang="ru-UA" sz="800" dirty="0" err="1"/>
              <a:t>including</a:t>
            </a:r>
            <a:r>
              <a:rPr lang="ru-UA" sz="800" dirty="0"/>
              <a:t> a </a:t>
            </a:r>
            <a:r>
              <a:rPr lang="ru-UA" sz="800" b="1" dirty="0"/>
              <a:t>Fire-Safety</a:t>
            </a:r>
            <a:r>
              <a:rPr lang="uk-UA" sz="800" b="1" dirty="0"/>
              <a:t> </a:t>
            </a:r>
            <a:r>
              <a:rPr lang="ru-UA" sz="800" b="1" dirty="0" err="1"/>
              <a:t>Occupancy</a:t>
            </a:r>
            <a:r>
              <a:rPr lang="ru-UA" sz="800" b="1" dirty="0"/>
              <a:t> Class </a:t>
            </a:r>
            <a:r>
              <a:rPr lang="ru-UA" sz="800" b="1" dirty="0" err="1"/>
              <a:t>contradiction</a:t>
            </a:r>
            <a:r>
              <a:rPr lang="ru-UA" sz="800" dirty="0"/>
              <a:t> (</a:t>
            </a:r>
            <a:r>
              <a:rPr lang="ru-UA" sz="800" dirty="0" err="1"/>
              <a:t>plumbing</a:t>
            </a:r>
            <a:r>
              <a:rPr lang="ru-UA" sz="800" dirty="0"/>
              <a:t> </a:t>
            </a:r>
            <a:r>
              <a:rPr lang="ru-UA" sz="800" dirty="0" err="1"/>
              <a:t>designed</a:t>
            </a:r>
            <a:r>
              <a:rPr lang="ru-UA" sz="800" dirty="0"/>
              <a:t> </a:t>
            </a:r>
            <a:r>
              <a:rPr lang="ru-UA" sz="800" dirty="0" err="1"/>
              <a:t>for</a:t>
            </a:r>
            <a:r>
              <a:rPr lang="ru-UA" sz="800" dirty="0"/>
              <a:t> </a:t>
            </a:r>
            <a:r>
              <a:rPr lang="ru-UA" sz="800" dirty="0" err="1"/>
              <a:t>warehouse</a:t>
            </a:r>
            <a:r>
              <a:rPr lang="ru-UA" sz="800" dirty="0"/>
              <a:t> </a:t>
            </a:r>
            <a:r>
              <a:rPr lang="ru-UA" sz="800" dirty="0" err="1"/>
              <a:t>use</a:t>
            </a:r>
            <a:r>
              <a:rPr lang="ru-UA" sz="800" dirty="0"/>
              <a:t> </a:t>
            </a:r>
            <a:r>
              <a:rPr lang="ru-UA" sz="800" dirty="0" err="1"/>
              <a:t>vs</a:t>
            </a:r>
            <a:r>
              <a:rPr lang="ru-UA" sz="800" dirty="0"/>
              <a:t>. </a:t>
            </a:r>
            <a:r>
              <a:rPr lang="ru-UA" sz="800" dirty="0" err="1"/>
              <a:t>mixed-use</a:t>
            </a:r>
            <a:r>
              <a:rPr lang="ru-UA" sz="800" dirty="0"/>
              <a:t> </a:t>
            </a:r>
            <a:r>
              <a:rPr lang="ru-UA" sz="800" dirty="0" err="1"/>
              <a:t>residential</a:t>
            </a:r>
            <a:r>
              <a:rPr lang="ru-UA" sz="800" dirty="0"/>
              <a:t> </a:t>
            </a:r>
            <a:r>
              <a:rPr lang="ru-UA" sz="800" dirty="0" err="1"/>
              <a:t>in</a:t>
            </a:r>
            <a:r>
              <a:rPr lang="ru-UA" sz="800" dirty="0"/>
              <a:t> PZ) </a:t>
            </a:r>
            <a:r>
              <a:rPr lang="ru-UA" sz="800" dirty="0" err="1"/>
              <a:t>and</a:t>
            </a:r>
            <a:r>
              <a:rPr lang="ru-UA" sz="800" dirty="0"/>
              <a:t> a </a:t>
            </a:r>
            <a:r>
              <a:rPr lang="ru-UA" sz="800" b="1" dirty="0"/>
              <a:t>Project Code </a:t>
            </a:r>
            <a:r>
              <a:rPr lang="ru-UA" sz="800" b="1" dirty="0" err="1"/>
              <a:t>inconsistency</a:t>
            </a:r>
            <a:r>
              <a:rPr lang="ru-UA" sz="800" dirty="0"/>
              <a:t> </a:t>
            </a:r>
            <a:r>
              <a:rPr lang="ru-UA" sz="800" dirty="0" err="1"/>
              <a:t>on</a:t>
            </a:r>
            <a:r>
              <a:rPr lang="ru-UA" sz="800" dirty="0"/>
              <a:t> </a:t>
            </a:r>
            <a:r>
              <a:rPr lang="ru-UA" sz="800" dirty="0" err="1"/>
              <a:t>fire-alarm</a:t>
            </a:r>
            <a:r>
              <a:rPr lang="ru-UA" sz="800" dirty="0"/>
              <a:t> </a:t>
            </a:r>
            <a:r>
              <a:rPr lang="ru-UA" sz="800" dirty="0" err="1"/>
              <a:t>sheets</a:t>
            </a:r>
            <a:r>
              <a:rPr lang="ru-UA" sz="800" dirty="0"/>
              <a:t>.</a:t>
            </a:r>
          </a:p>
          <a:p>
            <a:endParaRPr lang="uk-UA" sz="800" b="1" dirty="0"/>
          </a:p>
          <a:p>
            <a:r>
              <a:rPr lang="ru-UA" sz="800" b="1" dirty="0" err="1"/>
              <a:t>Regulatory</a:t>
            </a:r>
            <a:r>
              <a:rPr lang="ru-UA" sz="800" b="1" dirty="0"/>
              <a:t> Match (SP / GOST </a:t>
            </a:r>
            <a:r>
              <a:rPr lang="ru-UA" sz="800" b="1" dirty="0" err="1"/>
              <a:t>Verification</a:t>
            </a:r>
            <a:r>
              <a:rPr lang="ru-UA" sz="800" b="1" dirty="0"/>
              <a:t>)</a:t>
            </a:r>
            <a:r>
              <a:rPr lang="ru-UA" sz="800" dirty="0"/>
              <a:t>:</a:t>
            </a:r>
            <a:endParaRPr lang="uk-UA" sz="800" dirty="0"/>
          </a:p>
          <a:p>
            <a:endParaRPr lang="uk-UA" sz="800" dirty="0"/>
          </a:p>
          <a:p>
            <a:r>
              <a:rPr lang="ru-UA" sz="800" dirty="0" err="1"/>
              <a:t>Evaluated</a:t>
            </a:r>
            <a:r>
              <a:rPr lang="ru-UA" sz="800" dirty="0"/>
              <a:t> </a:t>
            </a:r>
            <a:r>
              <a:rPr lang="ru-UA" sz="800" b="1" dirty="0"/>
              <a:t>33 </a:t>
            </a:r>
            <a:r>
              <a:rPr lang="ru-UA" sz="800" b="1" dirty="0" err="1"/>
              <a:t>engineering</a:t>
            </a:r>
            <a:r>
              <a:rPr lang="ru-UA" sz="800" b="1" dirty="0"/>
              <a:t> </a:t>
            </a:r>
            <a:r>
              <a:rPr lang="ru-UA" sz="800" b="1" dirty="0" err="1"/>
              <a:t>parameters</a:t>
            </a:r>
            <a:r>
              <a:rPr lang="ru-UA" sz="800" dirty="0"/>
              <a:t>:</a:t>
            </a:r>
            <a:endParaRPr lang="uk-UA" sz="800" dirty="0"/>
          </a:p>
          <a:p>
            <a:r>
              <a:rPr lang="ru-UA" sz="800" b="1" dirty="0"/>
              <a:t>25</a:t>
            </a:r>
            <a:r>
              <a:rPr lang="ru-UA" sz="800" dirty="0"/>
              <a:t> </a:t>
            </a:r>
            <a:r>
              <a:rPr lang="ru-UA" sz="800" dirty="0" err="1"/>
              <a:t>Compliant</a:t>
            </a:r>
            <a:r>
              <a:rPr lang="ru-UA" sz="800" dirty="0"/>
              <a:t> (OK) | </a:t>
            </a:r>
            <a:r>
              <a:rPr lang="ru-UA" sz="800" b="1" dirty="0"/>
              <a:t>1</a:t>
            </a:r>
            <a:r>
              <a:rPr lang="ru-UA" sz="800" dirty="0"/>
              <a:t> </a:t>
            </a:r>
            <a:r>
              <a:rPr lang="ru-UA" sz="800" dirty="0" err="1"/>
              <a:t>Partial</a:t>
            </a:r>
            <a:r>
              <a:rPr lang="ru-UA" sz="800" dirty="0"/>
              <a:t> Match | </a:t>
            </a:r>
            <a:r>
              <a:rPr lang="ru-UA" sz="800" b="1" dirty="0"/>
              <a:t>7</a:t>
            </a:r>
            <a:r>
              <a:rPr lang="ru-UA" sz="800" dirty="0"/>
              <a:t> </a:t>
            </a:r>
            <a:r>
              <a:rPr lang="ru-UA" sz="800" dirty="0" err="1"/>
              <a:t>Critical</a:t>
            </a:r>
            <a:r>
              <a:rPr lang="ru-UA" sz="800" dirty="0"/>
              <a:t> </a:t>
            </a:r>
            <a:r>
              <a:rPr lang="ru-UA" sz="800" dirty="0" err="1"/>
              <a:t>Violations</a:t>
            </a:r>
            <a:r>
              <a:rPr lang="ru-UA" sz="800" dirty="0"/>
              <a:t> (ERR) </a:t>
            </a:r>
            <a:endParaRPr lang="uk-UA" sz="800" dirty="0"/>
          </a:p>
          <a:p>
            <a:r>
              <a:rPr lang="ru-UA" sz="800" i="1" dirty="0"/>
              <a:t>(</a:t>
            </a:r>
            <a:r>
              <a:rPr lang="ru-UA" sz="800" i="1" dirty="0" err="1"/>
              <a:t>e.g</a:t>
            </a:r>
            <a:r>
              <a:rPr lang="ru-UA" sz="800" i="1" dirty="0"/>
              <a:t>., </a:t>
            </a:r>
            <a:r>
              <a:rPr lang="ru-UA" sz="800" i="1" dirty="0" err="1"/>
              <a:t>insufficient</a:t>
            </a:r>
            <a:r>
              <a:rPr lang="ru-UA" sz="800" i="1" dirty="0"/>
              <a:t> </a:t>
            </a:r>
            <a:r>
              <a:rPr lang="ru-UA" sz="800" i="1" dirty="0" err="1"/>
              <a:t>pipe</a:t>
            </a:r>
            <a:r>
              <a:rPr lang="ru-UA" sz="800" i="1" dirty="0"/>
              <a:t> </a:t>
            </a:r>
            <a:r>
              <a:rPr lang="ru-UA" sz="800" i="1" dirty="0" err="1"/>
              <a:t>insulation</a:t>
            </a:r>
            <a:r>
              <a:rPr lang="ru-UA" sz="800" i="1" dirty="0"/>
              <a:t> </a:t>
            </a:r>
            <a:r>
              <a:rPr lang="ru-UA" sz="800" i="1" dirty="0" err="1"/>
              <a:t>and</a:t>
            </a:r>
            <a:r>
              <a:rPr lang="ru-UA" sz="800" i="1" dirty="0"/>
              <a:t> </a:t>
            </a:r>
            <a:r>
              <a:rPr lang="ru-UA" sz="800" i="1" dirty="0" err="1"/>
              <a:t>bathroom</a:t>
            </a:r>
            <a:r>
              <a:rPr lang="ru-UA" sz="800" i="1" dirty="0"/>
              <a:t> </a:t>
            </a:r>
            <a:r>
              <a:rPr lang="ru-UA" sz="800" i="1" dirty="0" err="1"/>
              <a:t>waterproofing</a:t>
            </a:r>
            <a:r>
              <a:rPr lang="ru-UA" sz="800" i="1" dirty="0"/>
              <a:t> </a:t>
            </a:r>
            <a:r>
              <a:rPr lang="ru-UA" sz="800" i="1" dirty="0" err="1"/>
              <a:t>height</a:t>
            </a:r>
            <a:r>
              <a:rPr lang="ru-UA" sz="800" i="1" dirty="0"/>
              <a:t>)</a:t>
            </a:r>
            <a:r>
              <a:rPr lang="ru-UA" sz="800" dirty="0"/>
              <a:t>.</a:t>
            </a:r>
            <a:endParaRPr lang="uk-UA" sz="800" dirty="0"/>
          </a:p>
          <a:p>
            <a:endParaRPr lang="ru-UA" sz="800" dirty="0"/>
          </a:p>
          <a:p>
            <a:r>
              <a:rPr lang="ru-UA" sz="800" b="1" dirty="0" err="1"/>
              <a:t>Calculation</a:t>
            </a:r>
            <a:r>
              <a:rPr lang="ru-UA" sz="800" b="1" dirty="0"/>
              <a:t> </a:t>
            </a:r>
            <a:r>
              <a:rPr lang="ru-UA" sz="800" b="1" dirty="0" err="1"/>
              <a:t>Verification</a:t>
            </a:r>
            <a:r>
              <a:rPr lang="ru-UA" sz="800" dirty="0"/>
              <a:t>:</a:t>
            </a:r>
            <a:endParaRPr lang="uk-UA" sz="800" dirty="0"/>
          </a:p>
          <a:p>
            <a:endParaRPr lang="uk-UA" sz="800" dirty="0"/>
          </a:p>
          <a:p>
            <a:r>
              <a:rPr lang="ru-UA" sz="800" dirty="0" err="1"/>
              <a:t>Checked</a:t>
            </a:r>
            <a:r>
              <a:rPr lang="ru-UA" sz="800" dirty="0"/>
              <a:t> </a:t>
            </a:r>
            <a:r>
              <a:rPr lang="ru-UA" sz="800" b="1" dirty="0"/>
              <a:t>38 </a:t>
            </a:r>
            <a:r>
              <a:rPr lang="ru-UA" sz="800" b="1" dirty="0" err="1"/>
              <a:t>mathematical</a:t>
            </a:r>
            <a:r>
              <a:rPr lang="ru-UA" sz="800" b="1" dirty="0"/>
              <a:t> </a:t>
            </a:r>
            <a:r>
              <a:rPr lang="ru-UA" sz="800" b="1" dirty="0" err="1"/>
              <a:t>expressions</a:t>
            </a:r>
            <a:r>
              <a:rPr lang="ru-UA" sz="800" dirty="0"/>
              <a:t>: </a:t>
            </a:r>
            <a:r>
              <a:rPr lang="ru-UA" sz="800" b="1" dirty="0"/>
              <a:t>0 </a:t>
            </a:r>
            <a:r>
              <a:rPr lang="ru-UA" sz="800" b="1" dirty="0" err="1"/>
              <a:t>math</a:t>
            </a:r>
            <a:r>
              <a:rPr lang="ru-UA" sz="800" b="1" dirty="0"/>
              <a:t> </a:t>
            </a:r>
            <a:r>
              <a:rPr lang="ru-UA" sz="800" b="1" dirty="0" err="1"/>
              <a:t>errors</a:t>
            </a:r>
            <a:r>
              <a:rPr lang="ru-UA" sz="800" dirty="0"/>
              <a:t> </a:t>
            </a:r>
            <a:r>
              <a:rPr lang="ru-UA" sz="800" dirty="0" err="1"/>
              <a:t>found</a:t>
            </a:r>
            <a:r>
              <a:rPr lang="ru-UA" sz="800" dirty="0"/>
              <a:t> (</a:t>
            </a:r>
            <a:r>
              <a:rPr lang="ru-UA" sz="800" dirty="0" err="1"/>
              <a:t>all</a:t>
            </a:r>
            <a:r>
              <a:rPr lang="ru-UA" sz="800" dirty="0"/>
              <a:t> </a:t>
            </a:r>
            <a:r>
              <a:rPr lang="ru-UA" sz="800" dirty="0" err="1"/>
              <a:t>deviations</a:t>
            </a:r>
            <a:r>
              <a:rPr lang="ru-UA" sz="800" dirty="0"/>
              <a:t> </a:t>
            </a:r>
            <a:r>
              <a:rPr lang="ru-UA" sz="800" dirty="0" err="1"/>
              <a:t>under</a:t>
            </a:r>
            <a:r>
              <a:rPr lang="ru-UA" sz="800" dirty="0"/>
              <a:t> 2% </a:t>
            </a:r>
            <a:r>
              <a:rPr lang="ru-UA" sz="800" dirty="0" err="1"/>
              <a:t>acceptable</a:t>
            </a:r>
            <a:r>
              <a:rPr lang="ru-UA" sz="800" dirty="0"/>
              <a:t> </a:t>
            </a:r>
            <a:r>
              <a:rPr lang="ru-UA" sz="800" dirty="0" err="1"/>
              <a:t>rounding</a:t>
            </a:r>
            <a:r>
              <a:rPr lang="ru-UA" sz="800" dirty="0"/>
              <a:t> </a:t>
            </a:r>
            <a:r>
              <a:rPr lang="ru-UA" sz="800" dirty="0" err="1"/>
              <a:t>limits</a:t>
            </a:r>
            <a:r>
              <a:rPr lang="ru-UA" sz="800" dirty="0"/>
              <a:t>).</a:t>
            </a:r>
            <a:endParaRPr lang="uk-UA" sz="800" dirty="0"/>
          </a:p>
          <a:p>
            <a:endParaRPr lang="ru-UA" sz="800" dirty="0"/>
          </a:p>
          <a:p>
            <a:r>
              <a:rPr lang="ru-UA" sz="800" b="1" dirty="0"/>
              <a:t>Document </a:t>
            </a:r>
            <a:r>
              <a:rPr lang="ru-UA" sz="800" b="1" dirty="0" err="1"/>
              <a:t>Audit</a:t>
            </a:r>
            <a:r>
              <a:rPr lang="ru-UA" sz="800" b="1" dirty="0"/>
              <a:t> (</a:t>
            </a:r>
            <a:r>
              <a:rPr lang="ru-UA" sz="800" b="1" dirty="0" err="1"/>
              <a:t>Normcontrol</a:t>
            </a:r>
            <a:r>
              <a:rPr lang="ru-UA" sz="800" b="1" dirty="0"/>
              <a:t>)</a:t>
            </a:r>
            <a:r>
              <a:rPr lang="ru-UA" sz="800" dirty="0"/>
              <a:t>:</a:t>
            </a:r>
            <a:endParaRPr lang="uk-UA" sz="800" dirty="0"/>
          </a:p>
          <a:p>
            <a:endParaRPr lang="uk-UA" sz="800" dirty="0"/>
          </a:p>
          <a:p>
            <a:r>
              <a:rPr lang="ru-UA" sz="800" dirty="0" err="1"/>
              <a:t>Functions</a:t>
            </a:r>
            <a:r>
              <a:rPr lang="ru-UA" sz="800" dirty="0"/>
              <a:t> </a:t>
            </a:r>
            <a:r>
              <a:rPr lang="ru-UA" sz="800" dirty="0" err="1"/>
              <a:t>as</a:t>
            </a:r>
            <a:r>
              <a:rPr lang="ru-UA" sz="800" dirty="0"/>
              <a:t> a </a:t>
            </a:r>
            <a:r>
              <a:rPr lang="ru-UA" sz="800" b="1" dirty="0"/>
              <a:t>"</a:t>
            </a:r>
            <a:r>
              <a:rPr lang="ru-UA" sz="800" b="1" dirty="0" err="1"/>
              <a:t>document</a:t>
            </a:r>
            <a:r>
              <a:rPr lang="ru-UA" sz="800" b="1" dirty="0"/>
              <a:t> </a:t>
            </a:r>
            <a:r>
              <a:rPr lang="ru-UA" sz="800" b="1" dirty="0" err="1"/>
              <a:t>linter</a:t>
            </a:r>
            <a:r>
              <a:rPr lang="ru-UA" sz="800" b="1" dirty="0"/>
              <a:t>"</a:t>
            </a:r>
            <a:r>
              <a:rPr lang="ru-UA" sz="800" dirty="0"/>
              <a:t> </a:t>
            </a:r>
            <a:r>
              <a:rPr lang="ru-UA" sz="800" dirty="0" err="1"/>
              <a:t>for</a:t>
            </a:r>
            <a:r>
              <a:rPr lang="ru-UA" sz="800" dirty="0"/>
              <a:t> </a:t>
            </a:r>
            <a:r>
              <a:rPr lang="ru-UA" sz="800" dirty="0" err="1"/>
              <a:t>drafting</a:t>
            </a:r>
            <a:r>
              <a:rPr lang="ru-UA" sz="800" dirty="0"/>
              <a:t> </a:t>
            </a:r>
            <a:r>
              <a:rPr lang="ru-UA" sz="800" dirty="0" err="1"/>
              <a:t>quality</a:t>
            </a:r>
            <a:r>
              <a:rPr lang="ru-UA" sz="800" dirty="0"/>
              <a:t> (GOST 2.105 / 21.101).</a:t>
            </a:r>
            <a:endParaRPr lang="uk-UA" sz="800" dirty="0"/>
          </a:p>
          <a:p>
            <a:r>
              <a:rPr lang="ru-UA" sz="800" dirty="0" err="1"/>
              <a:t>Flagged</a:t>
            </a:r>
            <a:r>
              <a:rPr lang="ru-UA" sz="800" dirty="0"/>
              <a:t> </a:t>
            </a:r>
            <a:r>
              <a:rPr lang="ru-UA" sz="800" b="1" dirty="0"/>
              <a:t>320 </a:t>
            </a:r>
            <a:r>
              <a:rPr lang="ru-UA" sz="800" b="1" dirty="0" err="1"/>
              <a:t>total</a:t>
            </a:r>
            <a:r>
              <a:rPr lang="ru-UA" sz="800" b="1" dirty="0"/>
              <a:t> </a:t>
            </a:r>
            <a:r>
              <a:rPr lang="ru-UA" sz="800" b="1" dirty="0" err="1"/>
              <a:t>drafting</a:t>
            </a:r>
            <a:r>
              <a:rPr lang="ru-UA" sz="800" b="1" dirty="0"/>
              <a:t> </a:t>
            </a:r>
            <a:r>
              <a:rPr lang="ru-UA" sz="800" b="1" dirty="0" err="1"/>
              <a:t>issues</a:t>
            </a:r>
            <a:r>
              <a:rPr lang="ru-UA" sz="800" dirty="0"/>
              <a:t> (</a:t>
            </a:r>
            <a:r>
              <a:rPr lang="ru-UA" sz="800" dirty="0" err="1"/>
              <a:t>mostly</a:t>
            </a:r>
            <a:r>
              <a:rPr lang="ru-UA" sz="800" dirty="0"/>
              <a:t> </a:t>
            </a:r>
            <a:r>
              <a:rPr lang="ru-UA" sz="800" dirty="0" err="1"/>
              <a:t>minor</a:t>
            </a:r>
            <a:r>
              <a:rPr lang="ru-UA" sz="800" dirty="0"/>
              <a:t> </a:t>
            </a:r>
            <a:r>
              <a:rPr lang="ru-UA" sz="800" dirty="0" err="1"/>
              <a:t>formatting</a:t>
            </a:r>
            <a:r>
              <a:rPr lang="ru-UA" sz="800" dirty="0"/>
              <a:t> </a:t>
            </a:r>
            <a:r>
              <a:rPr lang="ru-UA" sz="800" dirty="0" err="1"/>
              <a:t>errors</a:t>
            </a:r>
            <a:r>
              <a:rPr lang="ru-UA" sz="800" dirty="0"/>
              <a:t>, </a:t>
            </a:r>
            <a:r>
              <a:rPr lang="ru-UA" sz="800" dirty="0" err="1"/>
              <a:t>unsigned</a:t>
            </a:r>
            <a:r>
              <a:rPr lang="ru-UA" sz="800" dirty="0"/>
              <a:t> </a:t>
            </a:r>
            <a:r>
              <a:rPr lang="ru-UA" sz="800" dirty="0" err="1"/>
              <a:t>blocks</a:t>
            </a:r>
            <a:r>
              <a:rPr lang="ru-UA" sz="800" dirty="0"/>
              <a:t>, </a:t>
            </a:r>
            <a:r>
              <a:rPr lang="ru-UA" sz="800" dirty="0" err="1"/>
              <a:t>or</a:t>
            </a:r>
            <a:r>
              <a:rPr lang="ru-UA" sz="800" dirty="0"/>
              <a:t> </a:t>
            </a:r>
            <a:r>
              <a:rPr lang="ru-UA" sz="800" dirty="0" err="1"/>
              <a:t>missing</a:t>
            </a:r>
            <a:r>
              <a:rPr lang="ru-UA" sz="800" dirty="0"/>
              <a:t> </a:t>
            </a:r>
            <a:r>
              <a:rPr lang="ru-UA" sz="800" dirty="0" err="1"/>
              <a:t>metadata</a:t>
            </a:r>
            <a:r>
              <a:rPr lang="ru-UA" sz="800" dirty="0"/>
              <a:t> </a:t>
            </a:r>
            <a:r>
              <a:rPr lang="ru-UA" sz="800" dirty="0" err="1"/>
              <a:t>serving</a:t>
            </a:r>
            <a:r>
              <a:rPr lang="ru-UA" sz="800" dirty="0"/>
              <a:t> </a:t>
            </a:r>
            <a:r>
              <a:rPr lang="ru-UA" sz="800" dirty="0" err="1"/>
              <a:t>as</a:t>
            </a:r>
            <a:r>
              <a:rPr lang="ru-UA" sz="800" dirty="0"/>
              <a:t> </a:t>
            </a:r>
            <a:r>
              <a:rPr lang="ru-UA" sz="800" dirty="0" err="1"/>
              <a:t>proxy</a:t>
            </a:r>
            <a:r>
              <a:rPr lang="ru-UA" sz="800" dirty="0"/>
              <a:t> </a:t>
            </a:r>
            <a:r>
              <a:rPr lang="ru-UA" sz="800" dirty="0" err="1"/>
              <a:t>metrics</a:t>
            </a:r>
            <a:r>
              <a:rPr lang="ru-UA" sz="800" dirty="0"/>
              <a:t> </a:t>
            </a:r>
            <a:r>
              <a:rPr lang="ru-UA" sz="800" dirty="0" err="1"/>
              <a:t>for</a:t>
            </a:r>
            <a:r>
              <a:rPr lang="ru-UA" sz="800" dirty="0"/>
              <a:t> </a:t>
            </a:r>
            <a:r>
              <a:rPr lang="ru-UA" sz="800" dirty="0" err="1"/>
              <a:t>pre-submission</a:t>
            </a:r>
            <a:r>
              <a:rPr lang="ru-UA" sz="800" dirty="0"/>
              <a:t> </a:t>
            </a:r>
            <a:r>
              <a:rPr lang="ru-UA" sz="800" dirty="0" err="1"/>
              <a:t>document</a:t>
            </a:r>
            <a:r>
              <a:rPr lang="ru-UA" sz="800" dirty="0"/>
              <a:t> </a:t>
            </a:r>
            <a:r>
              <a:rPr lang="ru-UA" sz="800" dirty="0" err="1"/>
              <a:t>hygiene</a:t>
            </a:r>
            <a:r>
              <a:rPr lang="ru-UA" sz="800" dirty="0"/>
              <a:t>).</a:t>
            </a:r>
          </a:p>
          <a:p>
            <a:pPr algn="l">
              <a:spcAft>
                <a:spcPts val="525"/>
              </a:spcAft>
            </a:pPr>
            <a:endParaRPr lang="ru-UA" sz="100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43075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INTERFACE</a:t>
            </a:r>
            <a:r>
              <a:rPr lang="en-US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 · ACM MM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503045" y="3694372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3045" y="36943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991317" y="3694372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91317" y="36943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09" y="3694372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09" y="36943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RAG retrieval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503045" y="4076823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95424" y="4077709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clause or abstain</a:t>
            </a:r>
            <a:endParaRPr lang="en-US" sz="900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C0137063-A169-1E56-7F9D-38161E5B6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4817"/>
            <a:ext cx="4642454" cy="2828000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4242DA4D-33F9-17EE-7637-E87C1BA9FC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6295" y="2048685"/>
            <a:ext cx="4480560" cy="2933861"/>
          </a:xfrm>
          <a:prstGeom prst="rect">
            <a:avLst/>
          </a:prstGeom>
        </p:spPr>
      </p:pic>
      <p:sp>
        <p:nvSpPr>
          <p:cNvPr id="31" name="Shape 3"/>
          <p:cNvSpPr/>
          <p:nvPr/>
        </p:nvSpPr>
        <p:spPr>
          <a:xfrm>
            <a:off x="6327648" y="1683025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4"/>
          <p:cNvSpPr/>
          <p:nvPr/>
        </p:nvSpPr>
        <p:spPr>
          <a:xfrm>
            <a:off x="6327648" y="1683025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B</a:t>
            </a:r>
            <a:endParaRPr lang="en-US" sz="900" dirty="0"/>
          </a:p>
        </p:txBody>
      </p:sp>
      <p:sp>
        <p:nvSpPr>
          <p:cNvPr id="39" name="Shape 5"/>
          <p:cNvSpPr/>
          <p:nvPr/>
        </p:nvSpPr>
        <p:spPr>
          <a:xfrm>
            <a:off x="6327648" y="1311688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6"/>
          <p:cNvSpPr/>
          <p:nvPr/>
        </p:nvSpPr>
        <p:spPr>
          <a:xfrm>
            <a:off x="6327648" y="13116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</a:t>
            </a:r>
            <a:r>
              <a:rPr lang="uk-UA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900" dirty="0"/>
          </a:p>
        </p:txBody>
      </p:sp>
      <p:sp>
        <p:nvSpPr>
          <p:cNvPr id="41" name="Shape 7"/>
          <p:cNvSpPr/>
          <p:nvPr/>
        </p:nvSpPr>
        <p:spPr>
          <a:xfrm>
            <a:off x="7699248" y="1683025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8"/>
          <p:cNvSpPr/>
          <p:nvPr/>
        </p:nvSpPr>
        <p:spPr>
          <a:xfrm>
            <a:off x="7699248" y="1678879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classification</a:t>
            </a:r>
            <a:endParaRPr lang="en-US" sz="900" dirty="0"/>
          </a:p>
        </p:txBody>
      </p:sp>
      <p:sp>
        <p:nvSpPr>
          <p:cNvPr id="43" name="Shape 9"/>
          <p:cNvSpPr/>
          <p:nvPr/>
        </p:nvSpPr>
        <p:spPr>
          <a:xfrm>
            <a:off x="4956048" y="1683025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10"/>
          <p:cNvSpPr/>
          <p:nvPr/>
        </p:nvSpPr>
        <p:spPr>
          <a:xfrm>
            <a:off x="4956048" y="1683025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report + citations</a:t>
            </a:r>
            <a:endParaRPr lang="en-US" sz="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0A97BD-4D5C-699E-7B65-80DF9938AE5B}"/>
              </a:ext>
            </a:extLst>
          </p:cNvPr>
          <p:cNvSpPr txBox="1"/>
          <p:nvPr/>
        </p:nvSpPr>
        <p:spPr>
          <a:xfrm>
            <a:off x="73109" y="4459274"/>
            <a:ext cx="4498891" cy="648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5"/>
              </a:spcAft>
              <a:buFont typeface="Arial" panose="020B0604020202020204" pitchFamily="34" charset="0"/>
              <a:buChar char="•"/>
            </a:pPr>
            <a:r>
              <a:rPr lang="ru-UA" sz="800" b="1" i="0" dirty="0">
                <a:effectLst/>
                <a:latin typeface="Inter"/>
              </a:rPr>
              <a:t>Multi-</a:t>
            </a:r>
            <a:r>
              <a:rPr lang="ru-UA" sz="800" b="1" i="0" dirty="0" err="1">
                <a:effectLst/>
                <a:latin typeface="Inter"/>
              </a:rPr>
              <a:t>Jurisdiction</a:t>
            </a:r>
            <a:r>
              <a:rPr lang="ru-UA" sz="800" b="1" i="0" dirty="0">
                <a:effectLst/>
                <a:latin typeface="Inter"/>
              </a:rPr>
              <a:t> </a:t>
            </a:r>
            <a:r>
              <a:rPr lang="ru-UA" sz="800" b="1" i="0" dirty="0" err="1">
                <a:effectLst/>
                <a:latin typeface="Inter"/>
              </a:rPr>
              <a:t>Testing</a:t>
            </a:r>
            <a:r>
              <a:rPr lang="ru-UA" sz="800" b="0" i="0" dirty="0">
                <a:effectLst/>
                <a:latin typeface="Inter"/>
              </a:rPr>
              <a:t>: </a:t>
            </a:r>
            <a:r>
              <a:rPr lang="ru-UA" sz="800" b="0" i="0" dirty="0" err="1">
                <a:effectLst/>
                <a:latin typeface="Inter"/>
              </a:rPr>
              <a:t>Query</a:t>
            </a:r>
            <a:r>
              <a:rPr lang="ru-UA" sz="800" b="0" i="0" dirty="0">
                <a:effectLst/>
                <a:latin typeface="Inter"/>
              </a:rPr>
              <a:t> </a:t>
            </a:r>
            <a:r>
              <a:rPr lang="ru-UA" sz="800" b="0" i="0" dirty="0" err="1">
                <a:effectLst/>
                <a:latin typeface="Inter"/>
              </a:rPr>
              <a:t>the</a:t>
            </a:r>
            <a:r>
              <a:rPr lang="ru-UA" sz="800" b="0" i="0" dirty="0">
                <a:effectLst/>
                <a:latin typeface="Inter"/>
              </a:rPr>
              <a:t> Dubai Building Code (DBC) </a:t>
            </a:r>
            <a:r>
              <a:rPr lang="ru-UA" sz="800" b="0" i="0" dirty="0" err="1">
                <a:effectLst/>
                <a:latin typeface="Inter"/>
              </a:rPr>
              <a:t>in</a:t>
            </a:r>
            <a:r>
              <a:rPr lang="ru-UA" sz="800" b="0" i="0" dirty="0">
                <a:effectLst/>
                <a:latin typeface="Inter"/>
              </a:rPr>
              <a:t> English </a:t>
            </a:r>
            <a:r>
              <a:rPr lang="ru-UA" sz="800" b="0" i="0" dirty="0" err="1">
                <a:effectLst/>
                <a:latin typeface="Inter"/>
              </a:rPr>
              <a:t>or</a:t>
            </a:r>
            <a:r>
              <a:rPr lang="ru-UA" sz="800" b="0" i="0" dirty="0">
                <a:effectLst/>
                <a:latin typeface="Inter"/>
              </a:rPr>
              <a:t> RF </a:t>
            </a:r>
            <a:r>
              <a:rPr lang="ru-UA" sz="800" b="0" i="0" dirty="0" err="1">
                <a:effectLst/>
                <a:latin typeface="Inter"/>
              </a:rPr>
              <a:t>Norms</a:t>
            </a:r>
            <a:r>
              <a:rPr lang="ru-UA" sz="800" b="0" i="0" dirty="0">
                <a:effectLst/>
                <a:latin typeface="Inter"/>
              </a:rPr>
              <a:t> </a:t>
            </a:r>
            <a:r>
              <a:rPr lang="ru-UA" sz="800" b="0" i="0" dirty="0" err="1">
                <a:effectLst/>
                <a:latin typeface="Inter"/>
              </a:rPr>
              <a:t>in</a:t>
            </a:r>
            <a:r>
              <a:rPr lang="ru-UA" sz="800" b="0" i="0" dirty="0">
                <a:effectLst/>
                <a:latin typeface="Inter"/>
              </a:rPr>
              <a:t> Russian </a:t>
            </a:r>
            <a:r>
              <a:rPr lang="ru-UA" sz="800" b="0" i="0" dirty="0" err="1">
                <a:effectLst/>
                <a:latin typeface="Inter"/>
              </a:rPr>
              <a:t>using</a:t>
            </a:r>
            <a:r>
              <a:rPr lang="ru-UA" sz="800" b="0" i="0" dirty="0">
                <a:effectLst/>
                <a:latin typeface="Inter"/>
              </a:rPr>
              <a:t> </a:t>
            </a:r>
            <a:r>
              <a:rPr lang="ru-UA" sz="800" b="0" i="0" dirty="0" err="1">
                <a:effectLst/>
                <a:latin typeface="Inter"/>
              </a:rPr>
              <a:t>natural</a:t>
            </a:r>
            <a:r>
              <a:rPr lang="ru-UA" sz="800" b="0" i="0" dirty="0">
                <a:effectLst/>
                <a:latin typeface="Inter"/>
              </a:rPr>
              <a:t> </a:t>
            </a:r>
            <a:r>
              <a:rPr lang="ru-UA" sz="800" b="0" i="0" dirty="0" err="1">
                <a:effectLst/>
                <a:latin typeface="Inter"/>
              </a:rPr>
              <a:t>language</a:t>
            </a:r>
            <a:r>
              <a:rPr lang="ru-UA" sz="800" b="0" i="0" dirty="0">
                <a:effectLst/>
                <a:latin typeface="Inter"/>
              </a:rPr>
              <a:t>.</a:t>
            </a:r>
          </a:p>
          <a:p>
            <a:pPr algn="l">
              <a:spcAft>
                <a:spcPts val="525"/>
              </a:spcAft>
              <a:buFont typeface="Arial" panose="020B0604020202020204" pitchFamily="34" charset="0"/>
              <a:buChar char="•"/>
            </a:pPr>
            <a:r>
              <a:rPr lang="ru-UA" sz="800" b="1" i="0" dirty="0">
                <a:effectLst/>
                <a:latin typeface="Inter"/>
              </a:rPr>
              <a:t>Self-</a:t>
            </a:r>
            <a:r>
              <a:rPr lang="ru-UA" sz="800" b="1" i="0" dirty="0" err="1">
                <a:effectLst/>
                <a:latin typeface="Inter"/>
              </a:rPr>
              <a:t>Verification</a:t>
            </a:r>
            <a:r>
              <a:rPr lang="ru-UA" sz="800" b="0" i="0" dirty="0">
                <a:effectLst/>
                <a:latin typeface="Inter"/>
              </a:rPr>
              <a:t>: Test </a:t>
            </a:r>
            <a:r>
              <a:rPr lang="ru-UA" sz="800" b="0" i="0" dirty="0" err="1">
                <a:effectLst/>
                <a:latin typeface="Inter"/>
              </a:rPr>
              <a:t>any</a:t>
            </a:r>
            <a:r>
              <a:rPr lang="ru-UA" sz="800" b="0" i="0" dirty="0">
                <a:effectLst/>
                <a:latin typeface="Inter"/>
              </a:rPr>
              <a:t> </a:t>
            </a:r>
            <a:r>
              <a:rPr lang="ru-UA" sz="800" b="0" i="0" dirty="0" err="1">
                <a:effectLst/>
                <a:latin typeface="Inter"/>
              </a:rPr>
              <a:t>custom</a:t>
            </a:r>
            <a:r>
              <a:rPr lang="ru-UA" sz="800" b="0" i="0" dirty="0">
                <a:effectLst/>
                <a:latin typeface="Inter"/>
              </a:rPr>
              <a:t> </a:t>
            </a:r>
            <a:r>
              <a:rPr lang="ru-UA" sz="800" b="0" i="0" dirty="0" err="1">
                <a:effectLst/>
                <a:latin typeface="Inter"/>
              </a:rPr>
              <a:t>query</a:t>
            </a:r>
            <a:r>
              <a:rPr lang="ru-UA" sz="800" b="0" i="0" dirty="0">
                <a:effectLst/>
                <a:latin typeface="Inter"/>
              </a:rPr>
              <a:t> </a:t>
            </a:r>
            <a:r>
              <a:rPr lang="ru-UA" sz="800" b="0" i="0" dirty="0" err="1">
                <a:effectLst/>
                <a:latin typeface="Inter"/>
              </a:rPr>
              <a:t>yourself</a:t>
            </a:r>
            <a:r>
              <a:rPr lang="ru-UA" sz="800" b="0" i="0" dirty="0">
                <a:effectLst/>
                <a:latin typeface="Inter"/>
              </a:rPr>
              <a:t> </a:t>
            </a:r>
            <a:r>
              <a:rPr lang="ru-UA" sz="800" b="0" i="0" dirty="0" err="1">
                <a:effectLst/>
                <a:latin typeface="Inter"/>
              </a:rPr>
              <a:t>to</a:t>
            </a:r>
            <a:r>
              <a:rPr lang="ru-UA" sz="800" b="0" i="0" dirty="0">
                <a:effectLst/>
                <a:latin typeface="Inter"/>
              </a:rPr>
              <a:t> </a:t>
            </a:r>
            <a:r>
              <a:rPr lang="ru-UA" sz="800" b="0" i="0" dirty="0" err="1">
                <a:effectLst/>
                <a:latin typeface="Inter"/>
              </a:rPr>
              <a:t>witness</a:t>
            </a:r>
            <a:r>
              <a:rPr lang="ru-UA" sz="800" b="0" i="0" dirty="0">
                <a:effectLst/>
                <a:latin typeface="Inter"/>
              </a:rPr>
              <a:t> </a:t>
            </a:r>
            <a:r>
              <a:rPr lang="ru-UA" sz="800" b="0" i="0" dirty="0" err="1">
                <a:effectLst/>
                <a:latin typeface="Inter"/>
              </a:rPr>
              <a:t>the</a:t>
            </a:r>
            <a:r>
              <a:rPr lang="ru-UA" sz="800" b="0" i="0" dirty="0">
                <a:effectLst/>
                <a:latin typeface="Inter"/>
              </a:rPr>
              <a:t> </a:t>
            </a:r>
            <a:r>
              <a:rPr lang="ru-UA" sz="800" b="0" i="0" dirty="0" err="1">
                <a:effectLst/>
                <a:latin typeface="Inter"/>
              </a:rPr>
              <a:t>strict</a:t>
            </a:r>
            <a:r>
              <a:rPr lang="ru-UA" sz="800" b="0" i="0" dirty="0">
                <a:effectLst/>
                <a:latin typeface="Inter"/>
              </a:rPr>
              <a:t> "</a:t>
            </a:r>
            <a:r>
              <a:rPr lang="ru-UA" sz="800" b="0" i="0" dirty="0" err="1">
                <a:effectLst/>
                <a:latin typeface="Inter"/>
              </a:rPr>
              <a:t>ground-or-abstain</a:t>
            </a:r>
            <a:r>
              <a:rPr lang="ru-UA" sz="800" b="0" i="0" dirty="0">
                <a:effectLst/>
                <a:latin typeface="Inter"/>
              </a:rPr>
              <a:t>" </a:t>
            </a:r>
            <a:r>
              <a:rPr lang="ru-UA" sz="800" b="0" i="0" dirty="0" err="1">
                <a:effectLst/>
                <a:latin typeface="Inter"/>
              </a:rPr>
              <a:t>safety</a:t>
            </a:r>
            <a:r>
              <a:rPr lang="ru-UA" sz="800" b="0" i="0" dirty="0">
                <a:effectLst/>
                <a:latin typeface="Inter"/>
              </a:rPr>
              <a:t> </a:t>
            </a:r>
            <a:r>
              <a:rPr lang="ru-UA" sz="800" b="0" i="0" dirty="0" err="1">
                <a:effectLst/>
                <a:latin typeface="Inter"/>
              </a:rPr>
              <a:t>contract</a:t>
            </a:r>
            <a:r>
              <a:rPr lang="ru-UA" sz="800" b="0" i="0" dirty="0">
                <a:effectLst/>
                <a:latin typeface="Inter"/>
              </a:rPr>
              <a:t> </a:t>
            </a:r>
            <a:r>
              <a:rPr lang="ru-UA" sz="800" b="0" i="0" dirty="0" err="1">
                <a:effectLst/>
                <a:latin typeface="Inter"/>
              </a:rPr>
              <a:t>in</a:t>
            </a:r>
            <a:r>
              <a:rPr lang="ru-UA" sz="800" b="0" i="0" dirty="0">
                <a:effectLst/>
                <a:latin typeface="Inter"/>
              </a:rPr>
              <a:t> </a:t>
            </a:r>
            <a:r>
              <a:rPr lang="ru-UA" sz="800" b="0" i="0" dirty="0" err="1">
                <a:effectLst/>
                <a:latin typeface="Inter"/>
              </a:rPr>
              <a:t>real-time</a:t>
            </a:r>
            <a:r>
              <a:rPr lang="ru-UA" sz="800" b="0" i="0" dirty="0">
                <a:solidFill>
                  <a:srgbClr val="D4D4D4"/>
                </a:solidFill>
                <a:effectLst/>
                <a:latin typeface="Inter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B30C0E-FA40-A0E5-DA30-0AF6972BE96C}"/>
              </a:ext>
            </a:extLst>
          </p:cNvPr>
          <p:cNvSpPr txBox="1"/>
          <p:nvPr/>
        </p:nvSpPr>
        <p:spPr>
          <a:xfrm>
            <a:off x="4701882" y="813568"/>
            <a:ext cx="4312236" cy="52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5"/>
              </a:spcAft>
              <a:buFont typeface="Arial" panose="020B0604020202020204" pitchFamily="34" charset="0"/>
              <a:buChar char="•"/>
            </a:pPr>
            <a:r>
              <a:rPr lang="ru-UA" sz="600" b="1" i="0" dirty="0">
                <a:effectLst/>
                <a:latin typeface="Inter"/>
              </a:rPr>
              <a:t>Instant Real-Time Check</a:t>
            </a:r>
            <a:r>
              <a:rPr lang="ru-UA" sz="600" b="0" i="0" dirty="0">
                <a:effectLst/>
                <a:latin typeface="Inter"/>
              </a:rPr>
              <a:t>: </a:t>
            </a:r>
            <a:r>
              <a:rPr lang="ru-UA" sz="600" b="0" i="0" dirty="0" err="1">
                <a:effectLst/>
                <a:latin typeface="Inter"/>
              </a:rPr>
              <a:t>Upload</a:t>
            </a:r>
            <a:r>
              <a:rPr lang="ru-UA" sz="600" b="0" i="0" dirty="0">
                <a:effectLst/>
                <a:latin typeface="Inter"/>
              </a:rPr>
              <a:t> </a:t>
            </a:r>
            <a:r>
              <a:rPr lang="ru-UA" sz="600" b="0" i="0" dirty="0" err="1">
                <a:effectLst/>
                <a:latin typeface="Inter"/>
              </a:rPr>
              <a:t>the</a:t>
            </a:r>
            <a:r>
              <a:rPr lang="ru-UA" sz="600" b="0" i="0" dirty="0">
                <a:effectLst/>
                <a:latin typeface="Inter"/>
              </a:rPr>
              <a:t> </a:t>
            </a:r>
            <a:r>
              <a:rPr lang="ru-UA" sz="600" b="0" i="0" dirty="0" err="1">
                <a:effectLst/>
                <a:latin typeface="Inter"/>
              </a:rPr>
              <a:t>pre-packaged</a:t>
            </a:r>
            <a:r>
              <a:rPr lang="ru-UA" sz="600" b="0" i="0" dirty="0">
                <a:effectLst/>
                <a:latin typeface="Inter"/>
              </a:rPr>
              <a:t> </a:t>
            </a:r>
            <a:r>
              <a:rPr lang="ru-UA" sz="600" b="0" i="0" dirty="0" err="1">
                <a:effectLst/>
                <a:latin typeface="Inter"/>
              </a:rPr>
              <a:t>multi-section</a:t>
            </a:r>
            <a:r>
              <a:rPr lang="ru-UA" sz="600" b="0" i="0" dirty="0">
                <a:effectLst/>
                <a:latin typeface="Inter"/>
              </a:rPr>
              <a:t> </a:t>
            </a:r>
            <a:r>
              <a:rPr lang="ru-UA" sz="600" b="0" i="0" dirty="0" err="1">
                <a:effectLst/>
                <a:latin typeface="Inter"/>
              </a:rPr>
              <a:t>residential</a:t>
            </a:r>
            <a:r>
              <a:rPr lang="ru-UA" sz="600" b="0" i="0" dirty="0">
                <a:effectLst/>
                <a:latin typeface="Inter"/>
              </a:rPr>
              <a:t> </a:t>
            </a:r>
            <a:r>
              <a:rPr lang="ru-UA" sz="600" b="0" i="0" dirty="0" err="1">
                <a:effectLst/>
                <a:latin typeface="Inter"/>
              </a:rPr>
              <a:t>document</a:t>
            </a:r>
            <a:r>
              <a:rPr lang="ru-UA" sz="600" b="0" i="0" dirty="0">
                <a:effectLst/>
                <a:latin typeface="Inter"/>
              </a:rPr>
              <a:t> </a:t>
            </a:r>
            <a:r>
              <a:rPr lang="ru-UA" sz="600" b="0" i="0" dirty="0" err="1">
                <a:effectLst/>
                <a:latin typeface="Inter"/>
              </a:rPr>
              <a:t>package</a:t>
            </a:r>
            <a:r>
              <a:rPr lang="ru-UA" sz="600" b="0" i="0" dirty="0">
                <a:effectLst/>
                <a:latin typeface="Inter"/>
              </a:rPr>
              <a:t> (МКД) </a:t>
            </a:r>
            <a:r>
              <a:rPr lang="ru-UA" sz="600" b="0" i="0" dirty="0" err="1">
                <a:effectLst/>
                <a:latin typeface="Inter"/>
              </a:rPr>
              <a:t>to</a:t>
            </a:r>
            <a:r>
              <a:rPr lang="ru-UA" sz="600" b="0" i="0" dirty="0">
                <a:effectLst/>
                <a:latin typeface="Inter"/>
              </a:rPr>
              <a:t> </a:t>
            </a:r>
            <a:r>
              <a:rPr lang="ru-UA" sz="600" b="0" i="0" dirty="0" err="1">
                <a:effectLst/>
                <a:latin typeface="Inter"/>
              </a:rPr>
              <a:t>trigger</a:t>
            </a:r>
            <a:r>
              <a:rPr lang="ru-UA" sz="600" b="0" i="0" dirty="0">
                <a:effectLst/>
                <a:latin typeface="Inter"/>
              </a:rPr>
              <a:t> </a:t>
            </a:r>
            <a:r>
              <a:rPr lang="ru-UA" sz="600" b="0" i="0" dirty="0" err="1">
                <a:effectLst/>
                <a:latin typeface="Inter"/>
              </a:rPr>
              <a:t>the</a:t>
            </a:r>
            <a:r>
              <a:rPr lang="ru-UA" sz="600" b="0" i="0" dirty="0">
                <a:effectLst/>
                <a:latin typeface="Inter"/>
              </a:rPr>
              <a:t> </a:t>
            </a:r>
            <a:r>
              <a:rPr lang="ru-UA" sz="600" b="0" i="0" dirty="0" err="1">
                <a:effectLst/>
                <a:latin typeface="Inter"/>
              </a:rPr>
              <a:t>compliance</a:t>
            </a:r>
            <a:r>
              <a:rPr lang="ru-UA" sz="600" b="0" i="0" dirty="0">
                <a:effectLst/>
                <a:latin typeface="Inter"/>
              </a:rPr>
              <a:t> </a:t>
            </a:r>
            <a:r>
              <a:rPr lang="ru-UA" sz="600" b="0" i="0" dirty="0" err="1">
                <a:effectLst/>
                <a:latin typeface="Inter"/>
              </a:rPr>
              <a:t>pipeline</a:t>
            </a:r>
            <a:r>
              <a:rPr lang="ru-UA" sz="600" b="0" i="0" dirty="0">
                <a:effectLst/>
                <a:latin typeface="Inter"/>
              </a:rPr>
              <a:t>.</a:t>
            </a:r>
          </a:p>
          <a:p>
            <a:pPr algn="l">
              <a:spcAft>
                <a:spcPts val="525"/>
              </a:spcAft>
              <a:buFont typeface="Arial" panose="020B0604020202020204" pitchFamily="34" charset="0"/>
              <a:buChar char="•"/>
            </a:pPr>
            <a:r>
              <a:rPr lang="ru-UA" sz="600" b="1" i="0" dirty="0" err="1">
                <a:effectLst/>
                <a:latin typeface="Inter"/>
              </a:rPr>
              <a:t>Bypassing</a:t>
            </a:r>
            <a:r>
              <a:rPr lang="ru-UA" sz="600" b="1" i="0" dirty="0">
                <a:effectLst/>
                <a:latin typeface="Inter"/>
              </a:rPr>
              <a:t> </a:t>
            </a:r>
            <a:r>
              <a:rPr lang="ru-UA" sz="600" b="1" i="0" dirty="0" err="1">
                <a:effectLst/>
                <a:latin typeface="Inter"/>
              </a:rPr>
              <a:t>Latency</a:t>
            </a:r>
            <a:r>
              <a:rPr lang="ru-UA" sz="600" b="0" i="0" dirty="0">
                <a:effectLst/>
                <a:latin typeface="Inter"/>
              </a:rPr>
              <a:t>: </a:t>
            </a:r>
            <a:r>
              <a:rPr lang="ru-UA" sz="600" b="0" i="0" dirty="0" err="1">
                <a:effectLst/>
                <a:latin typeface="Inter"/>
              </a:rPr>
              <a:t>Graph</a:t>
            </a:r>
            <a:r>
              <a:rPr lang="ru-UA" sz="600" b="0" i="0" dirty="0">
                <a:effectLst/>
                <a:latin typeface="Inter"/>
              </a:rPr>
              <a:t> </a:t>
            </a:r>
            <a:r>
              <a:rPr lang="ru-UA" sz="600" b="0" i="0" dirty="0" err="1">
                <a:effectLst/>
                <a:latin typeface="Inter"/>
              </a:rPr>
              <a:t>extraction</a:t>
            </a:r>
            <a:r>
              <a:rPr lang="ru-UA" sz="600" b="0" i="0" dirty="0">
                <a:effectLst/>
                <a:latin typeface="Inter"/>
              </a:rPr>
              <a:t> </a:t>
            </a:r>
            <a:r>
              <a:rPr lang="ru-UA" sz="600" b="0" i="0" dirty="0" err="1">
                <a:effectLst/>
                <a:latin typeface="Inter"/>
              </a:rPr>
              <a:t>is</a:t>
            </a:r>
            <a:r>
              <a:rPr lang="ru-UA" sz="600" b="0" i="0" dirty="0">
                <a:effectLst/>
                <a:latin typeface="Inter"/>
              </a:rPr>
              <a:t> </a:t>
            </a:r>
            <a:r>
              <a:rPr lang="ru-UA" sz="600" b="0" i="0" dirty="0" err="1">
                <a:effectLst/>
                <a:latin typeface="Inter"/>
              </a:rPr>
              <a:t>pre-loaded</a:t>
            </a:r>
            <a:r>
              <a:rPr lang="ru-UA" sz="600" b="0" i="0" dirty="0">
                <a:effectLst/>
                <a:latin typeface="Inter"/>
              </a:rPr>
              <a:t> </a:t>
            </a:r>
            <a:r>
              <a:rPr lang="ru-UA" sz="600" b="0" i="0" dirty="0" err="1">
                <a:effectLst/>
                <a:latin typeface="Inter"/>
              </a:rPr>
              <a:t>for</a:t>
            </a:r>
            <a:r>
              <a:rPr lang="ru-UA" sz="600" b="0" i="0" dirty="0">
                <a:effectLst/>
                <a:latin typeface="Inter"/>
              </a:rPr>
              <a:t> </a:t>
            </a:r>
            <a:r>
              <a:rPr lang="ru-UA" sz="600" b="0" i="0" dirty="0" err="1">
                <a:effectLst/>
                <a:latin typeface="Inter"/>
              </a:rPr>
              <a:t>the</a:t>
            </a:r>
            <a:r>
              <a:rPr lang="ru-UA" sz="600" b="0" i="0" dirty="0">
                <a:effectLst/>
                <a:latin typeface="Inter"/>
              </a:rPr>
              <a:t> </a:t>
            </a:r>
            <a:r>
              <a:rPr lang="ru-UA" sz="600" b="0" i="0" dirty="0" err="1">
                <a:effectLst/>
                <a:latin typeface="Inter"/>
              </a:rPr>
              <a:t>demo</a:t>
            </a:r>
            <a:r>
              <a:rPr lang="ru-RU" sz="600" b="0" i="0" dirty="0">
                <a:effectLst/>
                <a:latin typeface="Inter"/>
              </a:rPr>
              <a:t> (</a:t>
            </a:r>
            <a:r>
              <a:rPr lang="en-US" sz="600" b="0" i="0" dirty="0">
                <a:effectLst/>
                <a:latin typeface="Inter"/>
              </a:rPr>
              <a:t>but graph dump will be available for checking</a:t>
            </a:r>
            <a:r>
              <a:rPr lang="ru-RU" sz="600" b="0" i="0" dirty="0">
                <a:effectLst/>
                <a:latin typeface="Inter"/>
              </a:rPr>
              <a:t>)</a:t>
            </a:r>
            <a:r>
              <a:rPr lang="ru-UA" sz="600" b="0" i="0" dirty="0">
                <a:effectLst/>
                <a:latin typeface="Inter"/>
              </a:rPr>
              <a:t>, </a:t>
            </a:r>
            <a:r>
              <a:rPr lang="ru-UA" sz="600" b="0" i="0" dirty="0" err="1">
                <a:effectLst/>
                <a:latin typeface="Inter"/>
              </a:rPr>
              <a:t>allowing</a:t>
            </a:r>
            <a:r>
              <a:rPr lang="ru-UA" sz="600" b="0" i="0" dirty="0">
                <a:effectLst/>
                <a:latin typeface="Inter"/>
              </a:rPr>
              <a:t> </a:t>
            </a:r>
            <a:r>
              <a:rPr lang="ru-UA" sz="600" b="0" i="0" dirty="0" err="1">
                <a:effectLst/>
                <a:latin typeface="Inter"/>
              </a:rPr>
              <a:t>you</a:t>
            </a:r>
            <a:r>
              <a:rPr lang="ru-UA" sz="600" b="0" i="0" dirty="0">
                <a:effectLst/>
                <a:latin typeface="Inter"/>
              </a:rPr>
              <a:t> </a:t>
            </a:r>
            <a:r>
              <a:rPr lang="ru-UA" sz="600" b="0" i="0" dirty="0" err="1">
                <a:effectLst/>
                <a:latin typeface="Inter"/>
              </a:rPr>
              <a:t>to</a:t>
            </a:r>
            <a:r>
              <a:rPr lang="ru-UA" sz="600" b="0" i="0" dirty="0">
                <a:effectLst/>
                <a:latin typeface="Inter"/>
              </a:rPr>
              <a:t> </a:t>
            </a:r>
            <a:r>
              <a:rPr lang="ru-UA" sz="600" b="0" i="0" dirty="0" err="1">
                <a:effectLst/>
                <a:latin typeface="Inter"/>
              </a:rPr>
              <a:t>view</a:t>
            </a:r>
            <a:r>
              <a:rPr lang="ru-UA" sz="600" b="0" i="0" dirty="0">
                <a:effectLst/>
                <a:latin typeface="Inter"/>
              </a:rPr>
              <a:t> </a:t>
            </a:r>
            <a:r>
              <a:rPr lang="ru-UA" sz="600" b="0" i="0" dirty="0" err="1">
                <a:effectLst/>
                <a:latin typeface="Inter"/>
              </a:rPr>
              <a:t>cross-section</a:t>
            </a:r>
            <a:r>
              <a:rPr lang="ru-UA" sz="600" b="0" i="0" dirty="0">
                <a:effectLst/>
                <a:latin typeface="Inter"/>
              </a:rPr>
              <a:t> </a:t>
            </a:r>
            <a:r>
              <a:rPr lang="ru-UA" sz="600" b="0" i="0" dirty="0" err="1">
                <a:effectLst/>
                <a:latin typeface="Inter"/>
              </a:rPr>
              <a:t>violations</a:t>
            </a:r>
            <a:r>
              <a:rPr lang="ru-UA" sz="600" b="0" i="0" dirty="0">
                <a:effectLst/>
                <a:latin typeface="Inter"/>
              </a:rPr>
              <a:t> </a:t>
            </a:r>
            <a:r>
              <a:rPr lang="ru-UA" sz="600" b="0" i="0" dirty="0" err="1">
                <a:effectLst/>
                <a:latin typeface="Inter"/>
              </a:rPr>
              <a:t>and</a:t>
            </a:r>
            <a:r>
              <a:rPr lang="ru-UA" sz="600" b="0" i="0" dirty="0">
                <a:effectLst/>
                <a:latin typeface="Inter"/>
              </a:rPr>
              <a:t> </a:t>
            </a:r>
            <a:r>
              <a:rPr lang="ru-UA" sz="600" b="0" i="0" dirty="0" err="1">
                <a:effectLst/>
                <a:latin typeface="Inter"/>
              </a:rPr>
              <a:t>grounded</a:t>
            </a:r>
            <a:r>
              <a:rPr lang="ru-UA" sz="600" b="0" i="0" dirty="0">
                <a:effectLst/>
                <a:latin typeface="Inter"/>
              </a:rPr>
              <a:t> </a:t>
            </a:r>
            <a:r>
              <a:rPr lang="ru-UA" sz="600" b="0" i="0" dirty="0" err="1">
                <a:effectLst/>
                <a:latin typeface="Inter"/>
              </a:rPr>
              <a:t>verdicts</a:t>
            </a:r>
            <a:r>
              <a:rPr lang="ru-UA" sz="600" b="0" i="0" dirty="0">
                <a:effectLst/>
                <a:latin typeface="Inter"/>
              </a:rPr>
              <a:t> </a:t>
            </a:r>
            <a:r>
              <a:rPr lang="ru-UA" sz="600" b="0" i="0" dirty="0" err="1">
                <a:effectLst/>
                <a:latin typeface="Inter"/>
              </a:rPr>
              <a:t>instantly</a:t>
            </a:r>
            <a:r>
              <a:rPr lang="ru-UA" sz="600" b="0" i="0" dirty="0">
                <a:effectLst/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7040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the multimedia community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115568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112952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252728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170432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Domain-agnostic architecture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481328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neuro-symbolic graph + multimodal pipeline is not construction-specific. The same architecture generalises to any regulatory domain with structured corpora — legal, medical, financial.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2350008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112952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2487168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404872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for grounding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715768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 provides a concrete, reproducible setting for studying hallucination vs. grounding in retrieval-augmented systems — with verifiable ground truth from official normative documents.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3584448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112952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3721608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639312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document understanding at scale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950208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project documentation auditing pipeline advances multimodal PDF understanding: combining OCR, layout analysis, table extraction, and norm linking in a unified, production-tested system.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4663440"/>
            <a:ext cx="8229600" cy="347472"/>
          </a:xfrm>
          <a:prstGeom prst="roundRect">
            <a:avLst>
              <a:gd name="adj" fmla="val 21053"/>
            </a:avLst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petrtym@gmail.com ·  lextech.ceo@gmail.com  ·  Petr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Tymofieiev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ITMO University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1600</Words>
  <Application>Microsoft Office PowerPoint</Application>
  <PresentationFormat>Экран (16:9)</PresentationFormat>
  <Paragraphs>369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Inter</vt:lpstr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LEX: A Multimodal Neuro-Symbolic System for Automated Construction Compliance</dc:title>
  <dc:subject>PptxGenJS Presentation</dc:subject>
  <dc:creator>PptxGenJS</dc:creator>
  <cp:lastModifiedBy>Пётр Тимофеев</cp:lastModifiedBy>
  <cp:revision>8</cp:revision>
  <dcterms:created xsi:type="dcterms:W3CDTF">2026-06-09T08:51:47Z</dcterms:created>
  <dcterms:modified xsi:type="dcterms:W3CDTF">2026-06-09T15:17:51Z</dcterms:modified>
</cp:coreProperties>
</file>